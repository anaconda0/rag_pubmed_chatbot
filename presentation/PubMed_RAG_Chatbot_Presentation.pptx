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introducing the project as a medical RAG chatbot that uses PubMed abstracts, embeddings, MongoDB, memory, and a Gradio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project focuses on reducing unsupported answers in a medical dataset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define RAG simply: retrieval first, answer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a generic chatbot with this grounded RAG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ingestion detects the abstract text column and extracts metadata like title, PMID, and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ingestion pipeline at the top, live chatbot pipeline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chunks as smaller pieces of abstract text, and embeddings as numeric representations of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MongoDB stores the text chunks, embeddings, and metadata needed for source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retrieval as comparing question meaning against stored chunk meanings and selecting the top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session memory and persistent vector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UI calls the RAG pipeline and does not contain the retrieval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while running a live demo or showing screenshots from ingestion, MongoDB, retrieval, and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technical benefits, especially grounding and source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that clinical recommendation systems require validation and safety work beyond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technical explanation by tying together ingestion, retrieval, memory, and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link and mention that the project is structured as separate logic and UI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questions and invite the audience to view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1645920" cy="420624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73768" y="1216152"/>
            <a:ext cx="420624" cy="1645920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417320"/>
            <a:ext cx="7132320" cy="6858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4200" b="1">
                <a:solidFill>
                  <a:srgbClr val="F5FAFF"/>
                </a:solidFill>
                <a:latin typeface="Aptos Display"/>
              </a:defRPr>
            </a:pPr>
            <a:r>
              <a:t>PubMed RAG 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167128"/>
            <a:ext cx="6583680" cy="3200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500" b="0">
                <a:solidFill>
                  <a:srgbClr val="00DCFF"/>
                </a:solidFill>
                <a:latin typeface="Aptos"/>
              </a:defRPr>
            </a:pPr>
            <a:r>
              <a:t>Retrieval-Augmented Generation for PubMed Medical Abstracts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880360"/>
            <a:ext cx="5120640" cy="11430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MongoDB vector storage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Sentence-transformers embeddings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Conversation memory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Gradio chatbot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20640"/>
            <a:ext cx="4480560" cy="2743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F5FAFF"/>
                </a:solidFill>
                <a:latin typeface="Aptos"/>
              </a:defRPr>
            </a:pPr>
            <a:r>
              <a:t>Prepared by: Omar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585216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Arab Academy for Science, Technology &amp; Maritime Transport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480560"/>
            <a:ext cx="65836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4544568"/>
            <a:ext cx="54864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4480560"/>
            <a:ext cx="10515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4544568"/>
            <a:ext cx="941831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4480560"/>
            <a:ext cx="148132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4544568"/>
            <a:ext cx="137160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Cybersecurity Style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Why medical chatbots need grounded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167335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177393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1655063"/>
            <a:ext cx="246888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1965960"/>
            <a:ext cx="2468880" cy="7498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A software assistant that receives a user question and returns a conversational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9431" y="1673351"/>
            <a:ext cx="438912" cy="43891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177393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1655063"/>
            <a:ext cx="246888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Hallucination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1965960"/>
            <a:ext cx="2468880" cy="7498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Normal LLMs may generate confident answers that are not supported by the project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508760"/>
            <a:ext cx="3337560" cy="1280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48471" y="167335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177393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1" y="1655063"/>
            <a:ext cx="246888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Medical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1" y="1965960"/>
            <a:ext cx="2468880" cy="7498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Medical questions require traceable evidence, source chunks, and conservative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749039"/>
            <a:ext cx="9921240" cy="146304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1" y="3858768"/>
            <a:ext cx="959205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Project Motivation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206240"/>
            <a:ext cx="9326880" cy="7772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Answer from medical abstracts, not from unsupported model memory</a:t>
            </a:r>
          </a:p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Show the retrieved PubMed sources used for each answer</a:t>
            </a:r>
          </a:p>
          <a:p>
            <a:pPr>
              <a:spcAft>
                <a:spcPts val="700"/>
              </a:spcAft>
              <a:defRPr sz="1600">
                <a:solidFill>
                  <a:srgbClr val="F5FAFF"/>
                </a:solidFill>
                <a:latin typeface="Aptos"/>
              </a:defRPr>
            </a:pPr>
            <a:r>
              <a:t>- Say when the dataset does not contain enough information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What Is RAG?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Retrieval-Augmented Generation in one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25856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2176272"/>
            <a:ext cx="145389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User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69464"/>
            <a:ext cx="1874520" cy="8503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Medical query from the chat UI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17520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6160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0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6744" y="225856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1376" y="2176272"/>
            <a:ext cx="145389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2569464"/>
            <a:ext cx="1874520" cy="8503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Find similar PubMed chunks in MongoDB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06440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79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19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225856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CTX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0295" y="2176272"/>
            <a:ext cx="145389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569464"/>
            <a:ext cx="1874520" cy="8503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Attach top source chunks to the prompt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595359" y="2651760"/>
            <a:ext cx="438912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3999" y="2057400"/>
            <a:ext cx="214884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39" y="214884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3" y="225856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9215" y="2176272"/>
            <a:ext cx="145389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59" y="2569464"/>
            <a:ext cx="1874520" cy="8503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Respond only from retrieved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25880" y="4617720"/>
            <a:ext cx="9555480" cy="84124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90472" y="4727448"/>
            <a:ext cx="92262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4965192"/>
            <a:ext cx="896112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0">
                <a:solidFill>
                  <a:srgbClr val="F5FAFF"/>
                </a:solidFill>
                <a:latin typeface="Aptos"/>
              </a:defRPr>
            </a:pPr>
            <a:r>
              <a:t>The model does not answer from memory alone. It first retrieves project-specific evidence, then builds the final response.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A chatbot grounded in PubMed abstracts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17320"/>
            <a:ext cx="5074920" cy="42976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527048"/>
            <a:ext cx="4745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Without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1993392"/>
            <a:ext cx="4389120" cy="1965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Question goes directly to model memory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No project dataset check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Higher risk of unsupported medical claims</a:t>
            </a:r>
          </a:p>
          <a:p>
            <a:pPr>
              <a:spcAft>
                <a:spcPts val="700"/>
              </a:spcAft>
              <a:defRPr sz="1500">
                <a:solidFill>
                  <a:srgbClr val="B0C5DC"/>
                </a:solidFill>
                <a:latin typeface="Aptos"/>
              </a:defRPr>
            </a:pPr>
            <a:r>
              <a:t>- Sources are not visible to the user</a:t>
            </a:r>
          </a:p>
        </p:txBody>
      </p:sp>
      <p:sp>
        <p:nvSpPr>
          <p:cNvPr id="22" name="Isosceles Triangle 21"/>
          <p:cNvSpPr/>
          <p:nvPr/>
        </p:nvSpPr>
        <p:spPr>
          <a:xfrm>
            <a:off x="2606040" y="4251960"/>
            <a:ext cx="914400" cy="658368"/>
          </a:xfrm>
          <a:prstGeom prst="triangl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436168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200" b="1">
                <a:solidFill>
                  <a:srgbClr val="070F2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417320"/>
            <a:ext cx="5074920" cy="42976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527048"/>
            <a:ext cx="4745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With This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1993392"/>
            <a:ext cx="4389120" cy="19659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Question is embedded as a vector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MongoDB returns relevant PubMed chunks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Prompt includes evidence and memory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Answer is generated only from retrieved context</a:t>
            </a:r>
          </a:p>
        </p:txBody>
      </p:sp>
      <p:sp>
        <p:nvSpPr>
          <p:cNvPr id="27" name="Oval 26"/>
          <p:cNvSpPr/>
          <p:nvPr/>
        </p:nvSpPr>
        <p:spPr>
          <a:xfrm>
            <a:off x="8183879" y="4224528"/>
            <a:ext cx="841248" cy="8412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507992"/>
            <a:ext cx="54864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300" b="1">
                <a:solidFill>
                  <a:srgbClr val="070F22"/>
                </a:solidFill>
                <a:latin typeface="Aptos"/>
              </a:defRPr>
            </a:pPr>
            <a:r>
              <a:t>OK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Kaggle PubMed Multilabel Text Classification 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89888"/>
            <a:ext cx="507492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99616"/>
            <a:ext cx="47457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Dataset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874519"/>
            <a:ext cx="4526280" cy="21488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PubMed medical abstract text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Article titles and PMID identifiers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Multilabel medical categories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MeSH-style disease, treatment, and diagnosis topics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617720"/>
            <a:ext cx="91440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" y="4681728"/>
            <a:ext cx="80467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Diseases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617720"/>
            <a:ext cx="9601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5144" y="4681728"/>
            <a:ext cx="85039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617720"/>
            <a:ext cx="1078992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38144" y="4681728"/>
            <a:ext cx="969264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Treatments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4617720"/>
            <a:ext cx="86868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681728"/>
            <a:ext cx="75895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Biology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389888"/>
            <a:ext cx="461772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1499616"/>
            <a:ext cx="428853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Detected CSV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057400"/>
            <a:ext cx="100584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57400"/>
            <a:ext cx="15544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abstractText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57400"/>
            <a:ext cx="114300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meshMajor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514600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96896"/>
            <a:ext cx="749808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596896"/>
            <a:ext cx="160020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2596896"/>
            <a:ext cx="59436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3044952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127248"/>
            <a:ext cx="749808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127248"/>
            <a:ext cx="160020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02368" y="3127248"/>
            <a:ext cx="59436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20840" y="3575304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657600"/>
            <a:ext cx="749808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3657600"/>
            <a:ext cx="160020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3657600"/>
            <a:ext cx="59436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4105656"/>
            <a:ext cx="3977639" cy="310896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9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187952"/>
            <a:ext cx="749808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PMID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187952"/>
            <a:ext cx="160020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F5FAFF"/>
                </a:solidFill>
                <a:latin typeface="Consolas"/>
              </a:defRPr>
            </a:pPr>
            <a:r>
              <a:t>medical abstract chunk...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4187952"/>
            <a:ext cx="594360" cy="1188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2DD4BF"/>
                </a:solidFill>
                <a:latin typeface="Consolas"/>
              </a:defRPr>
            </a:pPr>
            <a:r>
              <a:t>labels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From CSV data to grounded chatbot answers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161848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1536192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Dataset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929384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PubMed abstracts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97480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6432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7872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7015" y="161848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CHK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536192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Clean + 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1" y="1929384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Text preprocessing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559552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18504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61848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VEC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536192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1929384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Sentence-transformers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21624" y="1901952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80576" y="1417320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72016" y="1508760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1618488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1536192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1929384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Chunks + vectors</a:t>
            </a:r>
          </a:p>
        </p:txBody>
      </p:sp>
      <p:sp>
        <p:nvSpPr>
          <p:cNvPr id="42" name="Can 41"/>
          <p:cNvSpPr/>
          <p:nvPr/>
        </p:nvSpPr>
        <p:spPr>
          <a:xfrm>
            <a:off x="9125712" y="2788920"/>
            <a:ext cx="1371600" cy="91440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3136391"/>
            <a:ext cx="118872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4846320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9576" y="4764024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157216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User asks in UI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697480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456432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47872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7015" y="4846320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764024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1" y="5157216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Cosine top 5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5559552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18504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09944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4846320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764024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5664" y="5157216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Short + long term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421624" y="5129784"/>
            <a:ext cx="384048" cy="146304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80576" y="4645152"/>
            <a:ext cx="2267712" cy="1097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272016" y="4736592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81160" y="4846320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ANS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4764024"/>
            <a:ext cx="1572768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17736" y="5157216"/>
            <a:ext cx="1993392" cy="5303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Grounded response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4617720" y="3703320"/>
            <a:ext cx="5184648" cy="94183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257800" y="3246120"/>
            <a:ext cx="306324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000" b="0">
                <a:solidFill>
                  <a:srgbClr val="00DCFF"/>
                </a:solidFill>
                <a:latin typeface="Aptos"/>
              </a:defRPr>
            </a:pPr>
            <a:r>
              <a:t>Stored vectors searched at question time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Chunking and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Turning abstracts into searchable vectors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371600"/>
            <a:ext cx="292608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1481328"/>
            <a:ext cx="25968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1. Clean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938528"/>
            <a:ext cx="2331720" cy="7315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0">
                <a:solidFill>
                  <a:srgbClr val="F5FAFF"/>
                </a:solidFill>
                <a:latin typeface="Aptos"/>
              </a:defRPr>
            </a:pPr>
            <a:r>
              <a:t>Remove extra spaces and prepare abstract text for chunking.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2148840" cy="7772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0">
                <a:solidFill>
                  <a:srgbClr val="B0C5DC"/>
                </a:solidFill>
                <a:latin typeface="Consolas"/>
              </a:defRPr>
            </a:pPr>
            <a:r>
              <a:t>Abstract text</a:t>
            </a:r>
            <a:br/>
            <a:r>
              <a:t>Title metadata</a:t>
            </a:r>
            <a:br/>
            <a:r>
              <a:t>Labels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58768" y="3246120"/>
            <a:ext cx="502920" cy="182880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1371600"/>
            <a:ext cx="297180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481328"/>
            <a:ext cx="26426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2. Split Into Chunks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1965960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075688"/>
            <a:ext cx="1097280" cy="12801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2624328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734056"/>
            <a:ext cx="1097280" cy="12801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282696"/>
            <a:ext cx="2148840" cy="384048"/>
          </a:xfrm>
          <a:prstGeom prst="roundRect">
            <a:avLst/>
          </a:prstGeom>
          <a:solidFill>
            <a:srgbClr val="0A1B38"/>
          </a:solidFill>
          <a:ln w="1270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392424"/>
            <a:ext cx="1097280" cy="12801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Chunk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343400"/>
            <a:ext cx="2331720" cy="5943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0">
                <a:solidFill>
                  <a:srgbClr val="B0C5DC"/>
                </a:solidFill>
                <a:latin typeface="Aptos"/>
              </a:defRPr>
            </a:pPr>
            <a:r>
              <a:t>Smaller chunks improve retrieval precision.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708392" y="3246120"/>
            <a:ext cx="502920" cy="182880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1371600"/>
            <a:ext cx="2971800" cy="44805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1481328"/>
            <a:ext cx="26426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3. Vector Embeddings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1874519"/>
            <a:ext cx="2331720" cy="6583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0">
                <a:solidFill>
                  <a:srgbClr val="F5FAFF"/>
                </a:solidFill>
                <a:latin typeface="Aptos"/>
              </a:defRPr>
            </a:pPr>
            <a:r>
              <a:t>sentence-transformers converts text meaning into numbers.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79408" y="3542385"/>
            <a:ext cx="91440" cy="25237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163824"/>
            <a:ext cx="91440" cy="63093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08592" y="3374136"/>
            <a:ext cx="91440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73184" y="3054461"/>
            <a:ext cx="91440" cy="74029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7776" y="3441435"/>
            <a:ext cx="91440" cy="3533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02368" y="3247948"/>
            <a:ext cx="91440" cy="546811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66960" y="3609685"/>
            <a:ext cx="91440" cy="18507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31552" y="3306836"/>
            <a:ext cx="91440" cy="487923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06256" y="3886200"/>
            <a:ext cx="164592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[0.21, 0.78, 0.46, ...]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648" y="4828032"/>
            <a:ext cx="2377440" cy="457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Similar meaning = vectors point in similar directions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MongoDB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What is stored after ingestion</a:t>
            </a:r>
          </a:p>
        </p:txBody>
      </p:sp>
      <p:sp>
        <p:nvSpPr>
          <p:cNvPr id="19" name="Can 18"/>
          <p:cNvSpPr/>
          <p:nvPr/>
        </p:nvSpPr>
        <p:spPr>
          <a:xfrm>
            <a:off x="868680" y="1874519"/>
            <a:ext cx="2057400" cy="274320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36391"/>
            <a:ext cx="1874519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pubmed_chunks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325880"/>
            <a:ext cx="8001000" cy="470916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1435607"/>
            <a:ext cx="76718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Stored Document Shape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1856231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1947672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text: "medical chunk text..."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2350008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2441448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embedding: [0.021, -0.113, 0.402, ...]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843784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935224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chunk_hash: duplicate prevention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3337560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3429000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metadata.source_file: CSV file 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3831335"/>
            <a:ext cx="7086600" cy="32004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3922775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metadata.row_index / chunk_index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4325112"/>
            <a:ext cx="7086600" cy="320040"/>
          </a:xfrm>
          <a:prstGeom prst="roundRect">
            <a:avLst/>
          </a:prstGeom>
          <a:solidFill>
            <a:srgbClr val="123159"/>
          </a:solidFill>
          <a:ln w="10160">
            <a:solidFill>
              <a:srgbClr val="2C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8768" y="4416552"/>
            <a:ext cx="672084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F5FAFF"/>
                </a:solidFill>
                <a:latin typeface="Consolas"/>
              </a:defRPr>
            </a:pPr>
            <a:r>
              <a:t>metadata.pmid / title / labels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5074920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3903" y="5138928"/>
            <a:ext cx="130759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Unique chunk_hash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76672" y="5074920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31536" y="5138928"/>
            <a:ext cx="130759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Vector search 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4304" y="5074920"/>
            <a:ext cx="15087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138928"/>
            <a:ext cx="1399031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Metadata for sources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5074920"/>
            <a:ext cx="1353312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5138928"/>
            <a:ext cx="1243584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Labels if available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Retrieval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Cosine similarity finds the most relevant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572768"/>
            <a:ext cx="246888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773936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1691640"/>
            <a:ext cx="177393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Question 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084832"/>
            <a:ext cx="2194560" cy="60350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Embed the user question with the same model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83280" y="2057400"/>
            <a:ext cx="457200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69080" y="1572768"/>
            <a:ext cx="269748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6052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4" y="1773936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1691640"/>
            <a:ext cx="200253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Compare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084832"/>
            <a:ext cx="2423160" cy="60350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Calculate cosine similarity against MongoDB chunks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95160" y="2057400"/>
            <a:ext cx="457200" cy="164592"/>
          </a:xfrm>
          <a:prstGeom prst="rightArrow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80960" y="1572768"/>
            <a:ext cx="2788920" cy="117043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0" y="1664208"/>
            <a:ext cx="402336" cy="402336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1773936"/>
            <a:ext cx="384048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700" b="1">
                <a:solidFill>
                  <a:srgbClr val="070F2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1691640"/>
            <a:ext cx="2093976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200" b="1">
                <a:solidFill>
                  <a:srgbClr val="F5FAFF"/>
                </a:solidFill>
                <a:latin typeface="Aptos"/>
              </a:defRPr>
            </a:pPr>
            <a:r>
              <a:t>Top 5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084832"/>
            <a:ext cx="2514600" cy="60350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900" b="0">
                <a:solidFill>
                  <a:srgbClr val="B0C5DC"/>
                </a:solidFill>
                <a:latin typeface="Aptos"/>
              </a:defRPr>
            </a:pPr>
            <a:r>
              <a:t>Keep the strongest source chunks for the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730752"/>
            <a:ext cx="4434840" cy="16002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" y="3840480"/>
            <a:ext cx="4105655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343400"/>
            <a:ext cx="3840480" cy="237744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400" b="0">
                <a:solidFill>
                  <a:srgbClr val="F5FAFF"/>
                </a:solidFill>
                <a:latin typeface="Consolas"/>
              </a:defRPr>
            </a:pPr>
            <a:r>
              <a:t>score = dot(question_vector, chunk_vector)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773168"/>
            <a:ext cx="356616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100" b="0">
                <a:solidFill>
                  <a:srgbClr val="B0C5DC"/>
                </a:solidFill>
                <a:latin typeface="Aptos"/>
              </a:defRPr>
            </a:pPr>
            <a:r>
              <a:t>Higher score means closer semantic meaning.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3383280"/>
            <a:ext cx="5257800" cy="2267712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1031" y="3493008"/>
            <a:ext cx="492861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Ranked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3822191"/>
            <a:ext cx="73152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3822191"/>
            <a:ext cx="86868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0.5358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822191"/>
            <a:ext cx="242316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8192" y="4133087"/>
            <a:ext cx="73152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4133087"/>
            <a:ext cx="86868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0.5312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133087"/>
            <a:ext cx="242316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4443983"/>
            <a:ext cx="73152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8" y="4443983"/>
            <a:ext cx="86868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0.5134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443983"/>
            <a:ext cx="242316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8192" y="4754879"/>
            <a:ext cx="73152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4754879"/>
            <a:ext cx="86868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0.5015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754879"/>
            <a:ext cx="242316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5065776"/>
            <a:ext cx="73152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1">
                <a:solidFill>
                  <a:srgbClr val="F5FAFF"/>
                </a:solidFill>
                <a:latin typeface="Consolas"/>
              </a:defRPr>
            </a:pPr>
            <a:r>
              <a:t>Source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9168" y="5065776"/>
            <a:ext cx="86868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00DCFF"/>
                </a:solidFill>
                <a:latin typeface="Consolas"/>
              </a:defRPr>
            </a:pPr>
            <a:r>
              <a:t>score 0.5004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5065776"/>
            <a:ext cx="2423160" cy="10972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Consolas"/>
              </a:defRPr>
            </a:pPr>
            <a:r>
              <a:t>metadata + abstract chunk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Memory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Short-term chat state plus long-term vector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25880"/>
            <a:ext cx="4983480" cy="45720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1435607"/>
            <a:ext cx="46542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Short-Term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901952"/>
            <a:ext cx="4389120" cy="19202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Lives inside the active chat session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Stores role/content pairs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Keeps the last 20 messages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Used to understand recent follow-up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160520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224528"/>
            <a:ext cx="3520440" cy="914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user: message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489704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53712"/>
            <a:ext cx="3520440" cy="914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assistant: message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4818888"/>
            <a:ext cx="3977639" cy="228600"/>
          </a:xfrm>
          <a:prstGeom prst="roundRect">
            <a:avLst/>
          </a:prstGeom>
          <a:solidFill>
            <a:srgbClr val="0A1B38"/>
          </a:solidFill>
          <a:ln w="1016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882896"/>
            <a:ext cx="3520440" cy="914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700" b="0">
                <a:solidFill>
                  <a:srgbClr val="B0C5DC"/>
                </a:solidFill>
                <a:latin typeface="Consolas"/>
              </a:defRPr>
            </a:pPr>
            <a:r>
              <a:t>user: message content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25880"/>
            <a:ext cx="4983480" cy="457200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435607"/>
            <a:ext cx="46542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Long-Term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901952"/>
            <a:ext cx="4389120" cy="19202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Stored in MongoDB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Past user and assistant messages get embeddings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Relevant old memories are retrieved by cosine similarity</a:t>
            </a:r>
          </a:p>
          <a:p>
            <a:pPr>
              <a:spcAft>
                <a:spcPts val="700"/>
              </a:spcAft>
              <a:defRPr sz="1500">
                <a:solidFill>
                  <a:srgbClr val="F5FAFF"/>
                </a:solidFill>
                <a:latin typeface="Aptos"/>
              </a:defRPr>
            </a:pPr>
            <a:r>
              <a:t>- Added to prompt as supporting conversation context</a:t>
            </a:r>
          </a:p>
        </p:txBody>
      </p:sp>
      <p:sp>
        <p:nvSpPr>
          <p:cNvPr id="31" name="Can 30"/>
          <p:cNvSpPr/>
          <p:nvPr/>
        </p:nvSpPr>
        <p:spPr>
          <a:xfrm>
            <a:off x="8065008" y="4224528"/>
            <a:ext cx="1554480" cy="868680"/>
          </a:xfrm>
          <a:prstGeom prst="can">
            <a:avLst/>
          </a:prstGeom>
          <a:solidFill>
            <a:srgbClr val="123159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549140"/>
            <a:ext cx="137160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memory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Gradio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User-facing chatbot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25880"/>
            <a:ext cx="6537960" cy="4526280"/>
          </a:xfrm>
          <a:prstGeom prst="roundRect">
            <a:avLst/>
          </a:prstGeom>
          <a:solidFill>
            <a:srgbClr val="0A1B38"/>
          </a:solidFill>
          <a:ln w="17780">
            <a:solidFill>
              <a:srgbClr val="00D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1453895"/>
            <a:ext cx="6245352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Screenshot Placeholder: Gradio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387851"/>
            <a:ext cx="6208776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200" b="0">
                <a:solidFill>
                  <a:srgbClr val="B0C5DC"/>
                </a:solidFill>
                <a:latin typeface="Aptos"/>
              </a:defRPr>
            </a:pPr>
            <a:r>
              <a:t>Insert screenshot of the running chatbot at http://127.0.0.1:7860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" y="1856231"/>
            <a:ext cx="6245352" cy="27432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1325880"/>
            <a:ext cx="3611880" cy="45262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1435607"/>
            <a:ext cx="32826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UI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874519"/>
            <a:ext cx="3017520" cy="2697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Chat interface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Streaming response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Session management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Prompt history panel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Clear and new-session controls</a:t>
            </a:r>
          </a:p>
          <a:p>
            <a:pPr>
              <a:spcAft>
                <a:spcPts val="700"/>
              </a:spcAft>
              <a:defRPr sz="1400">
                <a:solidFill>
                  <a:srgbClr val="F5FAFF"/>
                </a:solidFill>
                <a:latin typeface="Aptos"/>
              </a:defRPr>
            </a:pPr>
            <a:r>
              <a:t>- Retrieved source/chunk display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5138928"/>
            <a:ext cx="14173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5202936"/>
            <a:ext cx="130759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Logic stays in src/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5138928"/>
            <a:ext cx="118872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1784" y="5202936"/>
            <a:ext cx="107899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UI stays in ui/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Demo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Question -&gt; Retrieval -&gt;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325880"/>
            <a:ext cx="3383280" cy="1965960"/>
          </a:xfrm>
          <a:prstGeom prst="roundRect">
            <a:avLst/>
          </a:prstGeom>
          <a:solidFill>
            <a:srgbClr val="0A1B38"/>
          </a:solidFill>
          <a:ln w="17780">
            <a:solidFill>
              <a:srgbClr val="00D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1453895"/>
            <a:ext cx="3090672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Terminal Ingestion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107691"/>
            <a:ext cx="3054096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200" b="0">
                <a:solidFill>
                  <a:srgbClr val="B0C5DC"/>
                </a:solidFill>
                <a:latin typeface="Aptos"/>
              </a:defRPr>
            </a:pPr>
            <a:r>
              <a:t>Insert tqdm ingestion output screenshot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" y="1856231"/>
            <a:ext cx="3090672" cy="27432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1325880"/>
            <a:ext cx="3383280" cy="1965960"/>
          </a:xfrm>
          <a:prstGeom prst="roundRect">
            <a:avLst/>
          </a:prstGeom>
          <a:solidFill>
            <a:srgbClr val="0A1B38"/>
          </a:solidFill>
          <a:ln w="17780">
            <a:solidFill>
              <a:srgbClr val="00D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453895"/>
            <a:ext cx="3090672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MongoDB Collections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107691"/>
            <a:ext cx="3054096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200" b="0">
                <a:solidFill>
                  <a:srgbClr val="B0C5DC"/>
                </a:solidFill>
                <a:latin typeface="Aptos"/>
              </a:defRPr>
            </a:pPr>
            <a:r>
              <a:t>Insert MongoDB Compass screenshot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5424" y="1856231"/>
            <a:ext cx="3090672" cy="27432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325880"/>
            <a:ext cx="3383280" cy="1965960"/>
          </a:xfrm>
          <a:prstGeom prst="roundRect">
            <a:avLst/>
          </a:prstGeom>
          <a:solidFill>
            <a:srgbClr val="0A1B38"/>
          </a:solidFill>
          <a:ln w="17780">
            <a:solidFill>
              <a:srgbClr val="00D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453895"/>
            <a:ext cx="3090672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Retrieved Chunks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2107691"/>
            <a:ext cx="3054096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defRPr sz="1200" b="0">
                <a:solidFill>
                  <a:srgbClr val="B0C5DC"/>
                </a:solidFill>
                <a:latin typeface="Aptos"/>
              </a:defRPr>
            </a:pPr>
            <a:r>
              <a:t>Insert top 5 chunks/source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856231"/>
            <a:ext cx="3090672" cy="27432"/>
          </a:xfrm>
          <a:prstGeom prst="rect">
            <a:avLst/>
          </a:prstGeom>
          <a:solidFill>
            <a:srgbClr val="009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97280" y="4114800"/>
            <a:ext cx="10012680" cy="132588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" y="4224528"/>
            <a:ext cx="96834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Example Demo 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526280"/>
            <a:ext cx="480060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Question: "What does the dataset say about obesity?"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82896"/>
            <a:ext cx="909828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0">
                <a:solidFill>
                  <a:srgbClr val="00DCFF"/>
                </a:solidFill>
                <a:latin typeface="Aptos"/>
              </a:defRPr>
            </a:pPr>
            <a:r>
              <a:t>System: embed question -&gt; retrieve top chunks -&gt; build prompt -&gt; stream grounded answer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Why this design is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50876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167335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177393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1655063"/>
            <a:ext cx="411480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Reduced Hallucination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1965960"/>
            <a:ext cx="4114800" cy="8869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Answers are tied to retrieved PubMed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50876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1" y="167335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177393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SRC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1655063"/>
            <a:ext cx="411480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Source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1965960"/>
            <a:ext cx="4114800" cy="8869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Users can inspect the chunks used for the answer.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65760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1832" y="3822191"/>
            <a:ext cx="438912" cy="43891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392277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0472" y="3803904"/>
            <a:ext cx="411480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Context-Aware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4114800"/>
            <a:ext cx="4114800" cy="8869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Recent and older memory improve follow-up handling.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57600"/>
            <a:ext cx="4983480" cy="14173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1" y="3822191"/>
            <a:ext cx="438912" cy="43891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1" y="3922776"/>
            <a:ext cx="43891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070F22"/>
                </a:solidFill>
                <a:latin typeface="Aptos"/>
              </a:defRPr>
            </a:pPr>
            <a:r>
              <a:t>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3803904"/>
            <a:ext cx="411480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Beginner-Friendly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4114800"/>
            <a:ext cx="4114800" cy="8869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000" b="0">
                <a:solidFill>
                  <a:srgbClr val="B0C5DC"/>
                </a:solidFill>
                <a:latin typeface="Aptos"/>
              </a:defRPr>
            </a:pPr>
            <a:r>
              <a:t>Python, MongoDB, sentence-transformers, Gradio.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Next engineering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417320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1618488"/>
            <a:ext cx="41148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1545336"/>
            <a:ext cx="301752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Gemma or Llama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563624"/>
            <a:ext cx="5806440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Add a local or API-based language model for stronger natural answers.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496312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697480"/>
            <a:ext cx="41148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624328"/>
            <a:ext cx="301752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Better Vector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642616"/>
            <a:ext cx="5806440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Use MongoDB Atlas Vector Search, FAISS, or Qdrant for scalable retrieval.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575304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3776472"/>
            <a:ext cx="41148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703320"/>
            <a:ext cx="301752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Voice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721608"/>
            <a:ext cx="5806440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Speech-to-text input and text-to-speech output for hands-free use.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654296"/>
            <a:ext cx="9966960" cy="749808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855464"/>
            <a:ext cx="411480" cy="18288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1">
                <a:solidFill>
                  <a:srgbClr val="00DC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782312"/>
            <a:ext cx="3017520" cy="219456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400" b="1">
                <a:solidFill>
                  <a:srgbClr val="F5FAFF"/>
                </a:solidFill>
                <a:latin typeface="Aptos"/>
              </a:defRPr>
            </a:pPr>
            <a:r>
              <a:t>Medical Recommendation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800600"/>
            <a:ext cx="5806440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B0C5DC"/>
                </a:solidFill>
                <a:latin typeface="Aptos"/>
              </a:defRPr>
            </a:pPr>
            <a:r>
              <a:t>Only after stronger validation, evaluation, and clinical safety checks.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417320"/>
            <a:ext cx="10195560" cy="43891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1527048"/>
            <a:ext cx="986637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1993392"/>
            <a:ext cx="9281160" cy="2606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Built an end-to-end RAG chatbot over PubMed medical abstracts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Ingested CSV data into chunks with embeddings and metadata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Used MongoDB for chunk storage, duplicate prevention, and memory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Retrieved top medical context with cosine similarity</a:t>
            </a:r>
          </a:p>
          <a:p>
            <a:pPr>
              <a:spcAft>
                <a:spcPts val="700"/>
              </a:spcAft>
              <a:defRPr sz="1700">
                <a:solidFill>
                  <a:srgbClr val="F5FAFF"/>
                </a:solidFill>
                <a:latin typeface="Aptos"/>
              </a:defRPr>
            </a:pPr>
            <a:r>
              <a:t>- Displayed grounded answers and sources through a Gradio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60"/>
            <a:ext cx="877824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Aptos"/>
              </a:defRPr>
            </a:pPr>
            <a:r>
              <a:t>RAG + MongoDB + Embeddings + Memory = explainable medical QA prototype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4"/>
            <a:ext cx="7772400" cy="5029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2800" b="1">
                <a:solidFill>
                  <a:srgbClr val="F5FAFF"/>
                </a:solidFill>
                <a:latin typeface="Aptos Display"/>
              </a:defRPr>
            </a:pPr>
            <a: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859536"/>
            <a:ext cx="7589520" cy="30175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100" b="0">
                <a:solidFill>
                  <a:srgbClr val="00DCFF"/>
                </a:solidFill>
                <a:latin typeface="Aptos"/>
              </a:defRPr>
            </a:pPr>
            <a:r>
              <a:t>Project code, README, and setup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1554480"/>
            <a:ext cx="10012680" cy="306324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1664207"/>
            <a:ext cx="9683496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331720"/>
            <a:ext cx="9098280" cy="34747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200" b="1">
                <a:solidFill>
                  <a:srgbClr val="00DCFF"/>
                </a:solidFill>
                <a:latin typeface="Consolas"/>
              </a:defRPr>
            </a:pPr>
            <a:r>
              <a:t>https://github.com/anaconda0/rag_pubmed_chatbot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035808"/>
            <a:ext cx="8229600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400" b="0">
                <a:solidFill>
                  <a:srgbClr val="F5FAFF"/>
                </a:solidFill>
                <a:latin typeface="Aptos"/>
              </a:defRPr>
            </a:pPr>
            <a:r>
              <a:t>Includes ingestion, retrieval, memory, RAG prompt building, Gradio UI, and test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822191"/>
            <a:ext cx="65836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6664" y="3886200"/>
            <a:ext cx="54864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src/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822191"/>
            <a:ext cx="64008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3903" y="3886200"/>
            <a:ext cx="530352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ui/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822191"/>
            <a:ext cx="749808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886200"/>
            <a:ext cx="64008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app.py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3822191"/>
            <a:ext cx="10515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5544" y="3886200"/>
            <a:ext cx="941831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3822191"/>
            <a:ext cx="1508760" cy="310896"/>
          </a:xfrm>
          <a:prstGeom prst="roundRect">
            <a:avLst/>
          </a:prstGeom>
          <a:solidFill>
            <a:srgbClr val="0F2342"/>
          </a:solidFill>
          <a:ln w="1397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3886200"/>
            <a:ext cx="1399031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800" b="1">
                <a:solidFill>
                  <a:srgbClr val="F5FAFF"/>
                </a:solidFill>
                <a:latin typeface="Aptos"/>
              </a:defRPr>
            </a:pPr>
            <a:r>
              <a:t>test_questions.txt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074920"/>
            <a:ext cx="6309360" cy="502920"/>
          </a:xfrm>
          <a:prstGeom prst="roundRect">
            <a:avLst/>
          </a:prstGeom>
          <a:solidFill>
            <a:srgbClr val="0F2342"/>
          </a:solidFill>
          <a:ln w="16510">
            <a:solidFill>
              <a:srgbClr val="009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239512"/>
            <a:ext cx="5715000" cy="16459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200" b="1">
                <a:solidFill>
                  <a:srgbClr val="F5FAFF"/>
                </a:solidFill>
                <a:latin typeface="Consolas"/>
              </a:defRPr>
            </a:pPr>
            <a:r>
              <a:t>Run locally: python app.py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822960"/>
            <a:ext cx="3840480" cy="3840480"/>
          </a:xfrm>
          <a:prstGeom prst="ellipse">
            <a:avLst/>
          </a:prstGeom>
          <a:solidFill>
            <a:srgbClr val="12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326880" y="640080"/>
            <a:ext cx="731520" cy="411480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058400" y="749808"/>
            <a:ext cx="9601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744200" y="749808"/>
            <a:ext cx="274320" cy="877824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44200" y="1325880"/>
            <a:ext cx="731520" cy="301752"/>
          </a:xfrm>
          <a:prstGeom prst="line">
            <a:avLst/>
          </a:prstGeom>
          <a:ln w="15240">
            <a:solidFill>
              <a:srgbClr val="009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290304" y="60350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21824" y="1014983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713231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7624" y="1591056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9144" y="1289304"/>
            <a:ext cx="73152" cy="7315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0972800" cy="27432"/>
          </a:xfrm>
          <a:prstGeom prst="rect">
            <a:avLst/>
          </a:prstGeom>
          <a:solidFill>
            <a:srgbClr val="1D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6309360" cy="20116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defRPr sz="800" b="0">
                <a:solidFill>
                  <a:srgbClr val="B0C5DC"/>
                </a:solidFill>
                <a:latin typeface="Aptos"/>
              </a:defRPr>
            </a:pPr>
            <a:r>
              <a:t>PubMed RAG Chatbot | MongoDB + Sentence-Transformers + Gradio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73952"/>
            <a:ext cx="50292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r">
              <a:defRPr sz="900" b="1">
                <a:solidFill>
                  <a:srgbClr val="00DC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148840"/>
            <a:ext cx="6629400" cy="6858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4800" b="1">
                <a:solidFill>
                  <a:srgbClr val="F5FA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017520"/>
            <a:ext cx="3566160" cy="38404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2400" b="1">
                <a:solidFill>
                  <a:srgbClr val="00DC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94760"/>
            <a:ext cx="4617720" cy="256032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500" b="0">
                <a:solidFill>
                  <a:srgbClr val="B0C5DC"/>
                </a:solidFill>
                <a:latin typeface="Aptos"/>
              </a:defRPr>
            </a:pPr>
            <a:r>
              <a:t>PubMed RAG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4187952"/>
            <a:ext cx="6400800" cy="228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defRPr sz="1100" b="0">
                <a:solidFill>
                  <a:srgbClr val="00DCFF"/>
                </a:solidFill>
                <a:latin typeface="Consolas"/>
              </a:defRPr>
            </a:pPr>
            <a:r>
              <a:t>https://github.com/anaconda0/rag_pubmed_chatbot</a:t>
            </a:r>
          </a:p>
        </p:txBody>
      </p:sp>
      <p:sp>
        <p:nvSpPr>
          <p:cNvPr id="21" name="Oval 20"/>
          <p:cNvSpPr/>
          <p:nvPr/>
        </p:nvSpPr>
        <p:spPr>
          <a:xfrm>
            <a:off x="6080760" y="470916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9834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553212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0760" y="5779008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23560" y="5532120"/>
            <a:ext cx="118872" cy="118872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23560" y="49834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