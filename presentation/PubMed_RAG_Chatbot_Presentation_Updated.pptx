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introducing the team and the project as a medical RAG chatbot that uses PubMed abstracts, embeddings, MongoDB, memory, and a Gradio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the project focuses on reducing unsupported answers in a medical dataset setting.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define RAG simply: retrieval first, answer second.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a generic chatbot with this grounded RAG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that ingestion detects the abstract text column and extracts metadata like title, PMID, and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right: ingestion pipeline at the top, live chatbot pipeline at the bottom.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chunks as smaller pieces of abstract text, and embeddings as numeric representations of meaning.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MongoDB stores the text chunks, embeddings, and metadata needed for source display.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retrieval as comparing question meaning against stored chunk meanings and selecting the top five.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difference between session memory and persistent vector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that the UI calls the RAG pipeline and does not contain the retrieval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while running a live demo or showing screenshots from ingestion, MongoDB, retrieval, and the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main technical benefits, especially grounding and source visibility.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clear that clinical recommendation systems require validation and safety work beyond this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the technical explanation by tying together ingestion, retrieval, memory, and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GitHub link and mention that the project is structured as separate logic and UI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with questions and invite the audience to view the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-822960"/>
            <a:ext cx="3840480" cy="3840480"/>
          </a:xfrm>
          <a:prstGeom prst="ellipse">
            <a:avLst/>
          </a:prstGeom>
          <a:solidFill>
            <a:srgbClr val="123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9326880" y="640080"/>
            <a:ext cx="731520" cy="411480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0058400" y="749808"/>
            <a:ext cx="9601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0744200" y="749808"/>
            <a:ext cx="274320" cy="877824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744200" y="1325880"/>
            <a:ext cx="7315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290304" y="60350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21824" y="101498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81944" y="713231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07624" y="1591056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9144" y="1289304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6464808"/>
            <a:ext cx="10972800" cy="27432"/>
          </a:xfrm>
          <a:prstGeom prst="rect">
            <a:avLst/>
          </a:prstGeom>
          <a:solidFill>
            <a:srgbClr val="1D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528816"/>
            <a:ext cx="6309360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800" b="0">
                <a:solidFill>
                  <a:srgbClr val="B0C5DC"/>
                </a:solidFill>
                <a:latin typeface="Aptos"/>
              </a:defRPr>
            </a:pPr>
            <a:r>
              <a:t>PubMed RAG Chatbot | MongoDB + Sentence-Transformers + Gradio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1051560"/>
            <a:ext cx="3886200" cy="278892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i_medical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376" y="1425035"/>
            <a:ext cx="3630168" cy="204196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8368" y="1170432"/>
            <a:ext cx="6537960" cy="685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3900" b="1">
                <a:solidFill>
                  <a:srgbClr val="F5FAFF"/>
                </a:solidFill>
                <a:latin typeface="Aptos Display"/>
              </a:defRPr>
            </a:pPr>
            <a:r>
              <a:t>PubMed RAG Chatbot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1920240"/>
            <a:ext cx="658368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500" b="0">
                <a:solidFill>
                  <a:srgbClr val="00DCFF"/>
                </a:solidFill>
                <a:latin typeface="Aptos"/>
              </a:defRPr>
            </a:pPr>
            <a:r>
              <a:t>Retrieval-Augmented Generation for PubMed Medical Abstracts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606040"/>
            <a:ext cx="5120640" cy="1143000"/>
          </a:xfrm>
          <a:prstGeom prst="rect">
            <a:avLst/>
          </a:prstGeom>
          <a:noFill/>
        </p:spPr>
        <p:txBody>
          <a:bodyPr wrap="square" lIns="45720" rIns="45720" tIns="18288">
            <a:norm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F5FAFF"/>
                </a:solidFill>
                <a:latin typeface="Aptos"/>
              </a:defRPr>
            </a:pPr>
            <a:r>
              <a:t>- MongoDB vector storage</a:t>
            </a:r>
          </a:p>
          <a:p>
            <a:pPr>
              <a:spcAft>
                <a:spcPts val="700"/>
              </a:spcAft>
              <a:defRPr sz="1400">
                <a:solidFill>
                  <a:srgbClr val="F5FAFF"/>
                </a:solidFill>
                <a:latin typeface="Aptos"/>
              </a:defRPr>
            </a:pPr>
            <a:r>
              <a:t>- Sentence-transformers embeddings</a:t>
            </a:r>
          </a:p>
          <a:p>
            <a:pPr>
              <a:spcAft>
                <a:spcPts val="700"/>
              </a:spcAft>
              <a:defRPr sz="1400">
                <a:solidFill>
                  <a:srgbClr val="F5FAFF"/>
                </a:solidFill>
                <a:latin typeface="Aptos"/>
              </a:defRPr>
            </a:pPr>
            <a:r>
              <a:t>- Conversation memory</a:t>
            </a:r>
          </a:p>
          <a:p>
            <a:pPr>
              <a:spcAft>
                <a:spcPts val="700"/>
              </a:spcAft>
              <a:defRPr sz="1400">
                <a:solidFill>
                  <a:srgbClr val="F5FAFF"/>
                </a:solidFill>
                <a:latin typeface="Aptos"/>
              </a:defRPr>
            </a:pPr>
            <a:r>
              <a:t>- Gradio chatbot interface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4251960"/>
            <a:ext cx="6446520" cy="1755648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361688"/>
            <a:ext cx="611733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300" b="1">
                <a:solidFill>
                  <a:srgbClr val="00DCFF"/>
                </a:solidFill>
                <a:latin typeface="Aptos"/>
              </a:defRPr>
            </a:pPr>
            <a:r>
              <a:t>Team Members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617720"/>
            <a:ext cx="2651760" cy="1463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800" b="1">
                <a:solidFill>
                  <a:srgbClr val="F5FAFF"/>
                </a:solidFill>
                <a:latin typeface="Aptos"/>
              </a:defRPr>
            </a:pPr>
            <a:r>
              <a:t>Omar Medhat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22191" y="4617720"/>
            <a:ext cx="1005840" cy="1463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800" b="0">
                <a:solidFill>
                  <a:srgbClr val="00DCFF"/>
                </a:solidFill>
                <a:latin typeface="Consolas"/>
              </a:defRPr>
            </a:pPr>
            <a:r>
              <a:t>221004675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846320"/>
            <a:ext cx="2651760" cy="1463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800" b="1">
                <a:solidFill>
                  <a:srgbClr val="F5FAFF"/>
                </a:solidFill>
                <a:latin typeface="Aptos"/>
              </a:defRPr>
            </a:pPr>
            <a:r>
              <a:t>Nagham ElNoshokaty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22191" y="4846320"/>
            <a:ext cx="1005840" cy="1463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800" b="0">
                <a:solidFill>
                  <a:srgbClr val="00DCFF"/>
                </a:solidFill>
                <a:latin typeface="Consolas"/>
              </a:defRPr>
            </a:pPr>
            <a:r>
              <a:t>221006874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074920"/>
            <a:ext cx="2651760" cy="1463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800" b="1">
                <a:solidFill>
                  <a:srgbClr val="F5FAFF"/>
                </a:solidFill>
                <a:latin typeface="Aptos"/>
              </a:defRPr>
            </a:pPr>
            <a:r>
              <a:t>Yousef Ashraf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22191" y="5074920"/>
            <a:ext cx="1005840" cy="1463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800" b="0">
                <a:solidFill>
                  <a:srgbClr val="00DCFF"/>
                </a:solidFill>
                <a:latin typeface="Consolas"/>
              </a:defRPr>
            </a:pPr>
            <a:r>
              <a:t>221005207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303520"/>
            <a:ext cx="2651760" cy="1463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800" b="1">
                <a:solidFill>
                  <a:srgbClr val="F5FAFF"/>
                </a:solidFill>
                <a:latin typeface="Aptos"/>
              </a:defRPr>
            </a:pPr>
            <a:r>
              <a:t>Marwan Ashraf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22191" y="5303520"/>
            <a:ext cx="1005840" cy="1463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800" b="0">
                <a:solidFill>
                  <a:srgbClr val="00DCFF"/>
                </a:solidFill>
                <a:latin typeface="Consolas"/>
              </a:defRPr>
            </a:pPr>
            <a:r>
              <a:t>221005698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532120"/>
            <a:ext cx="2651760" cy="1463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800" b="1">
                <a:solidFill>
                  <a:srgbClr val="F5FAFF"/>
                </a:solidFill>
                <a:latin typeface="Aptos"/>
              </a:defRPr>
            </a:pPr>
            <a:r>
              <a:t>Farouk Faisal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22191" y="5532120"/>
            <a:ext cx="1005840" cy="1463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800" b="0">
                <a:solidFill>
                  <a:srgbClr val="00DCFF"/>
                </a:solidFill>
                <a:latin typeface="Consolas"/>
              </a:defRPr>
            </a:pPr>
            <a:r>
              <a:t>221006961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797296"/>
            <a:ext cx="5806440" cy="1463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800" b="0">
                <a:solidFill>
                  <a:srgbClr val="B0C5DC"/>
                </a:solidFill>
                <a:latin typeface="Aptos"/>
              </a:defRPr>
            </a:pPr>
            <a:r>
              <a:t>Arab Academy for Science, Technology &amp; Maritime Transport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26679" y="4370832"/>
            <a:ext cx="658368" cy="310896"/>
          </a:xfrm>
          <a:prstGeom prst="roundRect">
            <a:avLst/>
          </a:prstGeom>
          <a:solidFill>
            <a:srgbClr val="0F2342"/>
          </a:solidFill>
          <a:ln w="1397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81544" y="4434840"/>
            <a:ext cx="548640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800" b="1">
                <a:solidFill>
                  <a:srgbClr val="F5FAFF"/>
                </a:solidFill>
                <a:latin typeface="Aptos"/>
              </a:defRPr>
            </a:pPr>
            <a:r>
              <a:t>AI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85632" y="4370832"/>
            <a:ext cx="1051560" cy="310896"/>
          </a:xfrm>
          <a:prstGeom prst="roundRect">
            <a:avLst/>
          </a:prstGeom>
          <a:solidFill>
            <a:srgbClr val="0F2342"/>
          </a:solidFill>
          <a:ln w="1397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0496" y="4434840"/>
            <a:ext cx="941831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800" b="1">
                <a:solidFill>
                  <a:srgbClr val="F5FAFF"/>
                </a:solidFill>
                <a:latin typeface="Aptos"/>
              </a:defRPr>
            </a:pPr>
            <a:r>
              <a:t>Healthcare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74352" y="4370832"/>
            <a:ext cx="1481328" cy="310896"/>
          </a:xfrm>
          <a:prstGeom prst="roundRect">
            <a:avLst/>
          </a:prstGeom>
          <a:solidFill>
            <a:srgbClr val="0F2342"/>
          </a:solidFill>
          <a:ln w="1397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29216" y="4434840"/>
            <a:ext cx="1371600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800" b="1">
                <a:solidFill>
                  <a:srgbClr val="F5FAFF"/>
                </a:solidFill>
                <a:latin typeface="Aptos"/>
              </a:defRPr>
            </a:pPr>
            <a:r>
              <a:t>Cybersecurity Style</a:t>
            </a:r>
          </a:p>
        </p:txBody>
      </p:sp>
    </p:spTree>
  </p:cSld>
  <p:transition spd="med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-822960"/>
            <a:ext cx="3840480" cy="3840480"/>
          </a:xfrm>
          <a:prstGeom prst="ellipse">
            <a:avLst/>
          </a:prstGeom>
          <a:solidFill>
            <a:srgbClr val="123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9326880" y="640080"/>
            <a:ext cx="731520" cy="411480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0058400" y="749808"/>
            <a:ext cx="9601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0744200" y="749808"/>
            <a:ext cx="274320" cy="877824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744200" y="1325880"/>
            <a:ext cx="7315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290304" y="60350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21824" y="101498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81944" y="713231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07624" y="1591056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9144" y="1289304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6464808"/>
            <a:ext cx="10972800" cy="27432"/>
          </a:xfrm>
          <a:prstGeom prst="rect">
            <a:avLst/>
          </a:prstGeom>
          <a:solidFill>
            <a:srgbClr val="1D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528816"/>
            <a:ext cx="6309360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800" b="0">
                <a:solidFill>
                  <a:srgbClr val="B0C5DC"/>
                </a:solidFill>
                <a:latin typeface="Aptos"/>
              </a:defRPr>
            </a:pPr>
            <a:r>
              <a:t>PubMed RAG Chatbot | MongoDB + Sentence-Transformers + Gradio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37392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r">
              <a:defRPr sz="900" b="1">
                <a:solidFill>
                  <a:srgbClr val="00DC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29184"/>
            <a:ext cx="777240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2800" b="1">
                <a:solidFill>
                  <a:srgbClr val="F5FAFF"/>
                </a:solidFill>
                <a:latin typeface="Aptos Display"/>
              </a:defRPr>
            </a:pPr>
            <a:r>
              <a:t>Introduction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859536"/>
            <a:ext cx="7589520" cy="3017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100" b="0">
                <a:solidFill>
                  <a:srgbClr val="00DCFF"/>
                </a:solidFill>
                <a:latin typeface="Aptos"/>
              </a:defRPr>
            </a:pPr>
            <a:r>
              <a:t>Why medical chatbots need grounded answers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1508760"/>
            <a:ext cx="3337560" cy="128016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0392" y="1673351"/>
            <a:ext cx="438912" cy="43891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1773936"/>
            <a:ext cx="438912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800" b="1">
                <a:solidFill>
                  <a:srgbClr val="070F22"/>
                </a:solidFill>
                <a:latin typeface="Aptos"/>
              </a:defRPr>
            </a:pPr>
            <a:r>
              <a:t>CHAT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99032" y="1655063"/>
            <a:ext cx="246888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Aptos"/>
              </a:defRPr>
            </a:pPr>
            <a:r>
              <a:t>Chatbot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1965960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000" b="0">
                <a:solidFill>
                  <a:srgbClr val="B0C5DC"/>
                </a:solidFill>
                <a:latin typeface="Aptos"/>
              </a:defRPr>
            </a:pPr>
            <a:r>
              <a:t>A software assistant that receives a user question and returns a conversational answer.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1508760"/>
            <a:ext cx="3337560" cy="128016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99431" y="1673351"/>
            <a:ext cx="438912" cy="438912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9431" y="1773936"/>
            <a:ext cx="438912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800" b="1">
                <a:solidFill>
                  <a:srgbClr val="070F22"/>
                </a:solidFill>
                <a:latin typeface="Aptos"/>
              </a:defRPr>
            </a:pPr>
            <a:r>
              <a:t>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8072" y="1655063"/>
            <a:ext cx="246888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Aptos"/>
              </a:defRPr>
            </a:pPr>
            <a:r>
              <a:t>Hallucination 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48072" y="1965960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000" b="0">
                <a:solidFill>
                  <a:srgbClr val="B0C5DC"/>
                </a:solidFill>
                <a:latin typeface="Aptos"/>
              </a:defRPr>
            </a:pPr>
            <a:r>
              <a:t>Normal LLMs may generate confident answers that are not supported by the project data.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1508760"/>
            <a:ext cx="3337560" cy="128016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348471" y="1673351"/>
            <a:ext cx="438912" cy="43891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48471" y="1773936"/>
            <a:ext cx="438912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800" b="1">
                <a:solidFill>
                  <a:srgbClr val="070F22"/>
                </a:solidFill>
                <a:latin typeface="Aptos"/>
              </a:defRPr>
            </a:pPr>
            <a:r>
              <a:t>MED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97111" y="1655063"/>
            <a:ext cx="246888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Aptos"/>
              </a:defRPr>
            </a:pPr>
            <a:r>
              <a:t>Medical Accuracy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97111" y="1965960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000" b="0">
                <a:solidFill>
                  <a:srgbClr val="B0C5DC"/>
                </a:solidFill>
                <a:latin typeface="Aptos"/>
              </a:defRPr>
            </a:pPr>
            <a:r>
              <a:t>Medical questions require traceable evidence, source chunks, and conservative answers.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51560" y="3749039"/>
            <a:ext cx="9921240" cy="146304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16151" y="3858768"/>
            <a:ext cx="959205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300" b="1">
                <a:solidFill>
                  <a:srgbClr val="00DCFF"/>
                </a:solidFill>
                <a:latin typeface="Aptos"/>
              </a:defRPr>
            </a:pPr>
            <a:r>
              <a:t>Project Motivation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5880" y="4206240"/>
            <a:ext cx="9326880" cy="777240"/>
          </a:xfrm>
          <a:prstGeom prst="rect">
            <a:avLst/>
          </a:prstGeom>
          <a:noFill/>
        </p:spPr>
        <p:txBody>
          <a:bodyPr wrap="square" lIns="45720" rIns="45720" tIns="18288">
            <a:norm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5FAFF"/>
                </a:solidFill>
                <a:latin typeface="Aptos"/>
              </a:defRPr>
            </a:pPr>
            <a:r>
              <a:t>- Answer from medical abstracts, not from unsupported model memory</a:t>
            </a:r>
          </a:p>
          <a:p>
            <a:pPr>
              <a:spcAft>
                <a:spcPts val="700"/>
              </a:spcAft>
              <a:defRPr sz="1600">
                <a:solidFill>
                  <a:srgbClr val="F5FAFF"/>
                </a:solidFill>
                <a:latin typeface="Aptos"/>
              </a:defRPr>
            </a:pPr>
            <a:r>
              <a:t>- Show the retrieved PubMed sources used for each answer</a:t>
            </a:r>
          </a:p>
          <a:p>
            <a:pPr>
              <a:spcAft>
                <a:spcPts val="700"/>
              </a:spcAft>
              <a:defRPr sz="1600">
                <a:solidFill>
                  <a:srgbClr val="F5FAFF"/>
                </a:solidFill>
                <a:latin typeface="Aptos"/>
              </a:defRPr>
            </a:pPr>
            <a:r>
              <a:t>- Say when the dataset does not contain enough information</a:t>
            </a:r>
          </a:p>
        </p:txBody>
      </p:sp>
    </p:spTree>
  </p:cSld>
  <p:transition spd="med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-822960"/>
            <a:ext cx="3840480" cy="3840480"/>
          </a:xfrm>
          <a:prstGeom prst="ellipse">
            <a:avLst/>
          </a:prstGeom>
          <a:solidFill>
            <a:srgbClr val="123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9326880" y="640080"/>
            <a:ext cx="731520" cy="411480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0058400" y="749808"/>
            <a:ext cx="9601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0744200" y="749808"/>
            <a:ext cx="274320" cy="877824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744200" y="1325880"/>
            <a:ext cx="7315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290304" y="60350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21824" y="101498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81944" y="713231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07624" y="1591056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9144" y="1289304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6464808"/>
            <a:ext cx="10972800" cy="27432"/>
          </a:xfrm>
          <a:prstGeom prst="rect">
            <a:avLst/>
          </a:prstGeom>
          <a:solidFill>
            <a:srgbClr val="1D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528816"/>
            <a:ext cx="6309360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800" b="0">
                <a:solidFill>
                  <a:srgbClr val="B0C5DC"/>
                </a:solidFill>
                <a:latin typeface="Aptos"/>
              </a:defRPr>
            </a:pPr>
            <a:r>
              <a:t>PubMed RAG Chatbot | MongoDB + Sentence-Transformers + Gradio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37392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r">
              <a:defRPr sz="900" b="1">
                <a:solidFill>
                  <a:srgbClr val="00DC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29184"/>
            <a:ext cx="777240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2800" b="1">
                <a:solidFill>
                  <a:srgbClr val="F5FAFF"/>
                </a:solidFill>
                <a:latin typeface="Aptos Display"/>
              </a:defRPr>
            </a:pPr>
            <a:r>
              <a:t>What Is RAG?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859536"/>
            <a:ext cx="7589520" cy="3017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100" b="0">
                <a:solidFill>
                  <a:srgbClr val="00DCFF"/>
                </a:solidFill>
                <a:latin typeface="Aptos"/>
              </a:defRPr>
            </a:pPr>
            <a:r>
              <a:t>Retrieval-Augmented Generation in one flow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2057400"/>
            <a:ext cx="2148840" cy="141732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" y="2148840"/>
            <a:ext cx="402336" cy="402336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2258568"/>
            <a:ext cx="384048" cy="1097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700" b="1">
                <a:solidFill>
                  <a:srgbClr val="070F22"/>
                </a:solidFill>
                <a:latin typeface="Aptos"/>
              </a:defRPr>
            </a:pPr>
            <a:r>
              <a:t>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62456" y="2176272"/>
            <a:ext cx="1453896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200" b="1">
                <a:solidFill>
                  <a:srgbClr val="F5FAFF"/>
                </a:solidFill>
                <a:latin typeface="Aptos"/>
              </a:defRPr>
            </a:pPr>
            <a:r>
              <a:t>User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569464"/>
            <a:ext cx="1874520" cy="8503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900" b="0">
                <a:solidFill>
                  <a:srgbClr val="B0C5DC"/>
                </a:solidFill>
                <a:latin typeface="Aptos"/>
              </a:defRPr>
            </a:pPr>
            <a:r>
              <a:t>Medical query from the chat UI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017520" y="2651760"/>
            <a:ext cx="438912" cy="164592"/>
          </a:xfrm>
          <a:prstGeom prst="rightArrow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566160" y="2057400"/>
            <a:ext cx="2148840" cy="141732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657600" y="2148840"/>
            <a:ext cx="402336" cy="402336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66744" y="2258568"/>
            <a:ext cx="384048" cy="1097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700" b="1">
                <a:solidFill>
                  <a:srgbClr val="070F22"/>
                </a:solidFill>
                <a:latin typeface="Aptos"/>
              </a:defRPr>
            </a:pPr>
            <a:r>
              <a:t>RET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51376" y="2176272"/>
            <a:ext cx="1453896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200" b="1">
                <a:solidFill>
                  <a:srgbClr val="F5FAFF"/>
                </a:solidFill>
                <a:latin typeface="Aptos"/>
              </a:defRPr>
            </a:pPr>
            <a:r>
              <a:t>Retrieval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2569464"/>
            <a:ext cx="1874520" cy="8503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900" b="0">
                <a:solidFill>
                  <a:srgbClr val="B0C5DC"/>
                </a:solidFill>
                <a:latin typeface="Aptos"/>
              </a:defRPr>
            </a:pPr>
            <a:r>
              <a:t>Find similar PubMed chunks in MongoDB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5806440" y="2651760"/>
            <a:ext cx="438912" cy="164592"/>
          </a:xfrm>
          <a:prstGeom prst="rightArrow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55079" y="2057400"/>
            <a:ext cx="2148840" cy="141732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46519" y="2148840"/>
            <a:ext cx="402336" cy="402336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2258568"/>
            <a:ext cx="384048" cy="1097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700" b="1">
                <a:solidFill>
                  <a:srgbClr val="070F22"/>
                </a:solidFill>
                <a:latin typeface="Aptos"/>
              </a:defRPr>
            </a:pPr>
            <a:r>
              <a:t>CTX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0295" y="2176272"/>
            <a:ext cx="1453896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200" b="1">
                <a:solidFill>
                  <a:srgbClr val="F5FAFF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2569464"/>
            <a:ext cx="1874520" cy="8503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900" b="0">
                <a:solidFill>
                  <a:srgbClr val="B0C5DC"/>
                </a:solidFill>
                <a:latin typeface="Aptos"/>
              </a:defRPr>
            </a:pPr>
            <a:r>
              <a:t>Attach top source chunks to the prompt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8595359" y="2651760"/>
            <a:ext cx="438912" cy="164592"/>
          </a:xfrm>
          <a:prstGeom prst="rightArrow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143999" y="2057400"/>
            <a:ext cx="2148840" cy="141732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235439" y="2148840"/>
            <a:ext cx="402336" cy="402336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44583" y="2258568"/>
            <a:ext cx="384048" cy="1097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700" b="1">
                <a:solidFill>
                  <a:srgbClr val="070F22"/>
                </a:solidFill>
                <a:latin typeface="Aptos"/>
              </a:defRPr>
            </a:pPr>
            <a:r>
              <a:t>ANS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29215" y="2176272"/>
            <a:ext cx="1453896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200" b="1">
                <a:solidFill>
                  <a:srgbClr val="F5FAFF"/>
                </a:solidFill>
                <a:latin typeface="Aptos"/>
              </a:defRPr>
            </a:pPr>
            <a:r>
              <a:t>Answer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59" y="2569464"/>
            <a:ext cx="1874520" cy="8503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900" b="0">
                <a:solidFill>
                  <a:srgbClr val="B0C5DC"/>
                </a:solidFill>
                <a:latin typeface="Aptos"/>
              </a:defRPr>
            </a:pPr>
            <a:r>
              <a:t>Respond only from retrieved context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325880" y="4617720"/>
            <a:ext cx="9555480" cy="841248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90472" y="4727448"/>
            <a:ext cx="922629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300" b="1">
                <a:solidFill>
                  <a:srgbClr val="00DCFF"/>
                </a:solidFill>
                <a:latin typeface="Aptos"/>
              </a:defRPr>
            </a:pPr>
            <a:r>
              <a:t>Key Idea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00200" y="4965192"/>
            <a:ext cx="896112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1500" b="0">
                <a:solidFill>
                  <a:srgbClr val="F5FAFF"/>
                </a:solidFill>
                <a:latin typeface="Aptos"/>
              </a:defRPr>
            </a:pPr>
            <a:r>
              <a:t>The model does not answer from memory alone. It first retrieves project-specific evidence, then builds the final response.</a:t>
            </a:r>
          </a:p>
        </p:txBody>
      </p:sp>
    </p:spTree>
  </p:cSld>
  <p:transition spd="med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-822960"/>
            <a:ext cx="3840480" cy="3840480"/>
          </a:xfrm>
          <a:prstGeom prst="ellipse">
            <a:avLst/>
          </a:prstGeom>
          <a:solidFill>
            <a:srgbClr val="123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9326880" y="640080"/>
            <a:ext cx="731520" cy="411480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0058400" y="749808"/>
            <a:ext cx="9601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0744200" y="749808"/>
            <a:ext cx="274320" cy="877824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744200" y="1325880"/>
            <a:ext cx="7315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290304" y="60350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21824" y="101498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81944" y="713231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07624" y="1591056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9144" y="1289304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6464808"/>
            <a:ext cx="10972800" cy="27432"/>
          </a:xfrm>
          <a:prstGeom prst="rect">
            <a:avLst/>
          </a:prstGeom>
          <a:solidFill>
            <a:srgbClr val="1D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528816"/>
            <a:ext cx="6309360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800" b="0">
                <a:solidFill>
                  <a:srgbClr val="B0C5DC"/>
                </a:solidFill>
                <a:latin typeface="Aptos"/>
              </a:defRPr>
            </a:pPr>
            <a:r>
              <a:t>PubMed RAG Chatbot | MongoDB + Sentence-Transformers + Gradio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37392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r">
              <a:defRPr sz="900" b="1">
                <a:solidFill>
                  <a:srgbClr val="00DC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29184"/>
            <a:ext cx="777240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2800" b="1">
                <a:solidFill>
                  <a:srgbClr val="F5FAFF"/>
                </a:solidFill>
                <a:latin typeface="Aptos Display"/>
              </a:defRPr>
            </a:pPr>
            <a:r>
              <a:t>Project Idea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859536"/>
            <a:ext cx="7589520" cy="3017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100" b="0">
                <a:solidFill>
                  <a:srgbClr val="00DCFF"/>
                </a:solidFill>
                <a:latin typeface="Aptos"/>
              </a:defRPr>
            </a:pPr>
            <a:r>
              <a:t>A chatbot grounded in PubMed abstracts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1417320"/>
            <a:ext cx="5074920" cy="429768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1527048"/>
            <a:ext cx="474573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300" b="1">
                <a:solidFill>
                  <a:srgbClr val="00DCFF"/>
                </a:solidFill>
                <a:latin typeface="Aptos"/>
              </a:defRPr>
            </a:pPr>
            <a:r>
              <a:t>Without RAG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1993392"/>
            <a:ext cx="4389120" cy="1965960"/>
          </a:xfrm>
          <a:prstGeom prst="rect">
            <a:avLst/>
          </a:prstGeom>
          <a:noFill/>
        </p:spPr>
        <p:txBody>
          <a:bodyPr wrap="square" lIns="45720" rIns="45720" tIns="18288">
            <a:norm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B0C5DC"/>
                </a:solidFill>
                <a:latin typeface="Aptos"/>
              </a:defRPr>
            </a:pPr>
            <a:r>
              <a:t>- Question goes directly to model memory</a:t>
            </a:r>
          </a:p>
          <a:p>
            <a:pPr>
              <a:spcAft>
                <a:spcPts val="700"/>
              </a:spcAft>
              <a:defRPr sz="1500">
                <a:solidFill>
                  <a:srgbClr val="B0C5DC"/>
                </a:solidFill>
                <a:latin typeface="Aptos"/>
              </a:defRPr>
            </a:pPr>
            <a:r>
              <a:t>- No project dataset check</a:t>
            </a:r>
          </a:p>
          <a:p>
            <a:pPr>
              <a:spcAft>
                <a:spcPts val="700"/>
              </a:spcAft>
              <a:defRPr sz="1500">
                <a:solidFill>
                  <a:srgbClr val="B0C5DC"/>
                </a:solidFill>
                <a:latin typeface="Aptos"/>
              </a:defRPr>
            </a:pPr>
            <a:r>
              <a:t>- Higher risk of unsupported medical claims</a:t>
            </a:r>
          </a:p>
          <a:p>
            <a:pPr>
              <a:spcAft>
                <a:spcPts val="700"/>
              </a:spcAft>
              <a:defRPr sz="1500">
                <a:solidFill>
                  <a:srgbClr val="B0C5DC"/>
                </a:solidFill>
                <a:latin typeface="Aptos"/>
              </a:defRPr>
            </a:pPr>
            <a:r>
              <a:t>- Sources are not visible to the user</a:t>
            </a:r>
          </a:p>
        </p:txBody>
      </p:sp>
      <p:sp>
        <p:nvSpPr>
          <p:cNvPr id="22" name="Isosceles Triangle 21"/>
          <p:cNvSpPr/>
          <p:nvPr/>
        </p:nvSpPr>
        <p:spPr>
          <a:xfrm>
            <a:off x="2606040" y="4251960"/>
            <a:ext cx="914400" cy="658368"/>
          </a:xfrm>
          <a:prstGeom prst="triangl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89504" y="4361688"/>
            <a:ext cx="32004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2200" b="1">
                <a:solidFill>
                  <a:srgbClr val="070F22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1417320"/>
            <a:ext cx="5074920" cy="429768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9672" y="1527048"/>
            <a:ext cx="474573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300" b="1">
                <a:solidFill>
                  <a:srgbClr val="00DCFF"/>
                </a:solidFill>
                <a:latin typeface="Aptos"/>
              </a:defRPr>
            </a:pPr>
            <a:r>
              <a:t>With This Project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93408" y="1993392"/>
            <a:ext cx="4389120" cy="1965960"/>
          </a:xfrm>
          <a:prstGeom prst="rect">
            <a:avLst/>
          </a:prstGeom>
          <a:noFill/>
        </p:spPr>
        <p:txBody>
          <a:bodyPr wrap="square" lIns="45720" rIns="45720" tIns="18288">
            <a:norm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5FAFF"/>
                </a:solidFill>
                <a:latin typeface="Aptos"/>
              </a:defRPr>
            </a:pPr>
            <a:r>
              <a:t>- Question is embedded as a vector</a:t>
            </a:r>
          </a:p>
          <a:p>
            <a:pPr>
              <a:spcAft>
                <a:spcPts val="700"/>
              </a:spcAft>
              <a:defRPr sz="1500">
                <a:solidFill>
                  <a:srgbClr val="F5FAFF"/>
                </a:solidFill>
                <a:latin typeface="Aptos"/>
              </a:defRPr>
            </a:pPr>
            <a:r>
              <a:t>- MongoDB returns relevant PubMed chunks</a:t>
            </a:r>
          </a:p>
          <a:p>
            <a:pPr>
              <a:spcAft>
                <a:spcPts val="700"/>
              </a:spcAft>
              <a:defRPr sz="1500">
                <a:solidFill>
                  <a:srgbClr val="F5FAFF"/>
                </a:solidFill>
                <a:latin typeface="Aptos"/>
              </a:defRPr>
            </a:pPr>
            <a:r>
              <a:t>- Prompt includes evidence and memory</a:t>
            </a:r>
          </a:p>
          <a:p>
            <a:pPr>
              <a:spcAft>
                <a:spcPts val="700"/>
              </a:spcAft>
              <a:defRPr sz="1500">
                <a:solidFill>
                  <a:srgbClr val="F5FAFF"/>
                </a:solidFill>
                <a:latin typeface="Aptos"/>
              </a:defRPr>
            </a:pPr>
            <a:r>
              <a:t>- Answer is generated only from retrieved context</a:t>
            </a:r>
          </a:p>
        </p:txBody>
      </p:sp>
      <p:sp>
        <p:nvSpPr>
          <p:cNvPr id="27" name="Oval 26"/>
          <p:cNvSpPr/>
          <p:nvPr/>
        </p:nvSpPr>
        <p:spPr>
          <a:xfrm>
            <a:off x="8183879" y="4224528"/>
            <a:ext cx="841248" cy="841248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4507992"/>
            <a:ext cx="548640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1300" b="1">
                <a:solidFill>
                  <a:srgbClr val="070F22"/>
                </a:solidFill>
                <a:latin typeface="Aptos"/>
              </a:defRPr>
            </a:pPr>
            <a:r>
              <a:t>OK</a:t>
            </a:r>
          </a:p>
        </p:txBody>
      </p:sp>
    </p:spTree>
  </p:cSld>
  <p:transition spd="med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-822960"/>
            <a:ext cx="3840480" cy="3840480"/>
          </a:xfrm>
          <a:prstGeom prst="ellipse">
            <a:avLst/>
          </a:prstGeom>
          <a:solidFill>
            <a:srgbClr val="123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9326880" y="640080"/>
            <a:ext cx="731520" cy="411480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0058400" y="749808"/>
            <a:ext cx="9601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0744200" y="749808"/>
            <a:ext cx="274320" cy="877824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744200" y="1325880"/>
            <a:ext cx="7315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290304" y="60350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21824" y="101498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81944" y="713231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07624" y="1591056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9144" y="1289304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6464808"/>
            <a:ext cx="10972800" cy="27432"/>
          </a:xfrm>
          <a:prstGeom prst="rect">
            <a:avLst/>
          </a:prstGeom>
          <a:solidFill>
            <a:srgbClr val="1D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528816"/>
            <a:ext cx="6309360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800" b="0">
                <a:solidFill>
                  <a:srgbClr val="B0C5DC"/>
                </a:solidFill>
                <a:latin typeface="Aptos"/>
              </a:defRPr>
            </a:pPr>
            <a:r>
              <a:t>PubMed RAG Chatbot | MongoDB + Sentence-Transformers + Gradio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37392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r">
              <a:defRPr sz="900" b="1">
                <a:solidFill>
                  <a:srgbClr val="00DC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29184"/>
            <a:ext cx="777240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2800" b="1">
                <a:solidFill>
                  <a:srgbClr val="F5FAFF"/>
                </a:solidFill>
                <a:latin typeface="Aptos Display"/>
              </a:defRPr>
            </a:pPr>
            <a:r>
              <a:t>Dataset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859536"/>
            <a:ext cx="7589520" cy="3017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100" b="0">
                <a:solidFill>
                  <a:srgbClr val="00DCFF"/>
                </a:solidFill>
                <a:latin typeface="Aptos"/>
              </a:defRPr>
            </a:pPr>
            <a:r>
              <a:t>Kaggle PubMed Multilabel Text Classification Dataset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1389888"/>
            <a:ext cx="5074920" cy="452628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1499616"/>
            <a:ext cx="474573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300" b="1">
                <a:solidFill>
                  <a:srgbClr val="00DCFF"/>
                </a:solidFill>
                <a:latin typeface="Aptos"/>
              </a:defRPr>
            </a:pPr>
            <a:r>
              <a:t>Dataset Content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1874519"/>
            <a:ext cx="4526280" cy="2148840"/>
          </a:xfrm>
          <a:prstGeom prst="rect">
            <a:avLst/>
          </a:prstGeom>
          <a:noFill/>
        </p:spPr>
        <p:txBody>
          <a:bodyPr wrap="square" lIns="45720" rIns="45720" tIns="18288">
            <a:norm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5FAFF"/>
                </a:solidFill>
                <a:latin typeface="Aptos"/>
              </a:defRPr>
            </a:pPr>
            <a:r>
              <a:t>- PubMed medical abstract text</a:t>
            </a:r>
          </a:p>
          <a:p>
            <a:pPr>
              <a:spcAft>
                <a:spcPts val="700"/>
              </a:spcAft>
              <a:defRPr sz="1500">
                <a:solidFill>
                  <a:srgbClr val="F5FAFF"/>
                </a:solidFill>
                <a:latin typeface="Aptos"/>
              </a:defRPr>
            </a:pPr>
            <a:r>
              <a:t>- Article titles and PMID identifiers</a:t>
            </a:r>
          </a:p>
          <a:p>
            <a:pPr>
              <a:spcAft>
                <a:spcPts val="700"/>
              </a:spcAft>
              <a:defRPr sz="1500">
                <a:solidFill>
                  <a:srgbClr val="F5FAFF"/>
                </a:solidFill>
                <a:latin typeface="Aptos"/>
              </a:defRPr>
            </a:pPr>
            <a:r>
              <a:t>- Multilabel medical categories</a:t>
            </a:r>
          </a:p>
          <a:p>
            <a:pPr>
              <a:spcAft>
                <a:spcPts val="700"/>
              </a:spcAft>
              <a:defRPr sz="1500">
                <a:solidFill>
                  <a:srgbClr val="F5FAFF"/>
                </a:solidFill>
                <a:latin typeface="Aptos"/>
              </a:defRPr>
            </a:pPr>
            <a:r>
              <a:t>- MeSH-style disease, treatment, and diagnosis topics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3000" y="4617720"/>
            <a:ext cx="914400" cy="310896"/>
          </a:xfrm>
          <a:prstGeom prst="roundRect">
            <a:avLst/>
          </a:prstGeom>
          <a:solidFill>
            <a:srgbClr val="0F2342"/>
          </a:solidFill>
          <a:ln w="1397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97864" y="4681728"/>
            <a:ext cx="804672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800" b="1">
                <a:solidFill>
                  <a:srgbClr val="F5FAFF"/>
                </a:solidFill>
                <a:latin typeface="Aptos"/>
              </a:defRPr>
            </a:pPr>
            <a:r>
              <a:t>Diseases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40280" y="4617720"/>
            <a:ext cx="960120" cy="310896"/>
          </a:xfrm>
          <a:prstGeom prst="roundRect">
            <a:avLst/>
          </a:prstGeom>
          <a:solidFill>
            <a:srgbClr val="0F2342"/>
          </a:solidFill>
          <a:ln w="1397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95144" y="4681728"/>
            <a:ext cx="850392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800" b="1">
                <a:solidFill>
                  <a:srgbClr val="F5FAFF"/>
                </a:solidFill>
                <a:latin typeface="Aptos"/>
              </a:defRPr>
            </a:pPr>
            <a:r>
              <a:t>Diagnosis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4617720"/>
            <a:ext cx="1078992" cy="310896"/>
          </a:xfrm>
          <a:prstGeom prst="roundRect">
            <a:avLst/>
          </a:prstGeom>
          <a:solidFill>
            <a:srgbClr val="0F2342"/>
          </a:solidFill>
          <a:ln w="1397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38144" y="4681728"/>
            <a:ext cx="969264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800" b="1">
                <a:solidFill>
                  <a:srgbClr val="F5FAFF"/>
                </a:solidFill>
                <a:latin typeface="Aptos"/>
              </a:defRPr>
            </a:pPr>
            <a:r>
              <a:t>Treatments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45152" y="4617720"/>
            <a:ext cx="868680" cy="310896"/>
          </a:xfrm>
          <a:prstGeom prst="roundRect">
            <a:avLst/>
          </a:prstGeom>
          <a:solidFill>
            <a:srgbClr val="0F2342"/>
          </a:solidFill>
          <a:ln w="1397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0016" y="4681728"/>
            <a:ext cx="758952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800" b="1">
                <a:solidFill>
                  <a:srgbClr val="F5FAFF"/>
                </a:solidFill>
                <a:latin typeface="Aptos"/>
              </a:defRPr>
            </a:pPr>
            <a:r>
              <a:t>Biology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46520" y="1389888"/>
            <a:ext cx="4617720" cy="452628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11112" y="1499616"/>
            <a:ext cx="428853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300" b="1">
                <a:solidFill>
                  <a:srgbClr val="00DCFF"/>
                </a:solidFill>
                <a:latin typeface="Aptos"/>
              </a:defRPr>
            </a:pPr>
            <a:r>
              <a:t>Detected CSV Structure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2057400"/>
            <a:ext cx="100584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200" b="1">
                <a:solidFill>
                  <a:srgbClr val="00DCFF"/>
                </a:solidFill>
                <a:latin typeface="Consolas"/>
              </a:defRPr>
            </a:pPr>
            <a:r>
              <a:t>Title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2057400"/>
            <a:ext cx="155448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200" b="1">
                <a:solidFill>
                  <a:srgbClr val="00DCFF"/>
                </a:solidFill>
                <a:latin typeface="Consolas"/>
              </a:defRPr>
            </a:pPr>
            <a:r>
              <a:t>abstractText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2057400"/>
            <a:ext cx="114300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200" b="1">
                <a:solidFill>
                  <a:srgbClr val="00DCFF"/>
                </a:solidFill>
                <a:latin typeface="Consolas"/>
              </a:defRPr>
            </a:pPr>
            <a:r>
              <a:t>meshMajor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20840" y="2514600"/>
            <a:ext cx="3977639" cy="310896"/>
          </a:xfrm>
          <a:prstGeom prst="roundRect">
            <a:avLst/>
          </a:prstGeom>
          <a:solidFill>
            <a:srgbClr val="0A1B38"/>
          </a:solidFill>
          <a:ln w="10160">
            <a:solidFill>
              <a:srgbClr val="295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0" y="2596896"/>
            <a:ext cx="749808" cy="1188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700" b="0">
                <a:solidFill>
                  <a:srgbClr val="B0C5DC"/>
                </a:solidFill>
                <a:latin typeface="Consolas"/>
              </a:defRPr>
            </a:pPr>
            <a:r>
              <a:t>PMID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20" y="2596896"/>
            <a:ext cx="1600200" cy="1188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700" b="0">
                <a:solidFill>
                  <a:srgbClr val="F5FAFF"/>
                </a:solidFill>
                <a:latin typeface="Consolas"/>
              </a:defRPr>
            </a:pPr>
            <a:r>
              <a:t>medical abstract chunk...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02368" y="2596896"/>
            <a:ext cx="594360" cy="1188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700" b="0">
                <a:solidFill>
                  <a:srgbClr val="2DD4BF"/>
                </a:solidFill>
                <a:latin typeface="Consolas"/>
              </a:defRPr>
            </a:pPr>
            <a:r>
              <a:t>labels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720840" y="3044952"/>
            <a:ext cx="3977639" cy="310896"/>
          </a:xfrm>
          <a:prstGeom prst="roundRect">
            <a:avLst/>
          </a:prstGeom>
          <a:solidFill>
            <a:srgbClr val="0A1B38"/>
          </a:solidFill>
          <a:ln w="10160">
            <a:solidFill>
              <a:srgbClr val="295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0" y="3127248"/>
            <a:ext cx="749808" cy="1188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700" b="0">
                <a:solidFill>
                  <a:srgbClr val="B0C5DC"/>
                </a:solidFill>
                <a:latin typeface="Consolas"/>
              </a:defRPr>
            </a:pPr>
            <a:r>
              <a:t>PMID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18120" y="3127248"/>
            <a:ext cx="1600200" cy="1188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700" b="0">
                <a:solidFill>
                  <a:srgbClr val="F5FAFF"/>
                </a:solidFill>
                <a:latin typeface="Consolas"/>
              </a:defRPr>
            </a:pPr>
            <a:r>
              <a:t>medical abstract chunk...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02368" y="3127248"/>
            <a:ext cx="594360" cy="1188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700" b="0">
                <a:solidFill>
                  <a:srgbClr val="2DD4BF"/>
                </a:solidFill>
                <a:latin typeface="Consolas"/>
              </a:defRPr>
            </a:pPr>
            <a:r>
              <a:t>labels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720840" y="3575304"/>
            <a:ext cx="3977639" cy="310896"/>
          </a:xfrm>
          <a:prstGeom prst="roundRect">
            <a:avLst/>
          </a:prstGeom>
          <a:solidFill>
            <a:srgbClr val="0A1B38"/>
          </a:solidFill>
          <a:ln w="10160">
            <a:solidFill>
              <a:srgbClr val="295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0" y="3657600"/>
            <a:ext cx="749808" cy="1188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700" b="0">
                <a:solidFill>
                  <a:srgbClr val="B0C5DC"/>
                </a:solidFill>
                <a:latin typeface="Consolas"/>
              </a:defRPr>
            </a:pPr>
            <a:r>
              <a:t>PMID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18120" y="3657600"/>
            <a:ext cx="1600200" cy="1188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700" b="0">
                <a:solidFill>
                  <a:srgbClr val="F5FAFF"/>
                </a:solidFill>
                <a:latin typeface="Consolas"/>
              </a:defRPr>
            </a:pPr>
            <a:r>
              <a:t>medical abstract chunk...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02368" y="3657600"/>
            <a:ext cx="594360" cy="1188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700" b="0">
                <a:solidFill>
                  <a:srgbClr val="2DD4BF"/>
                </a:solidFill>
                <a:latin typeface="Consolas"/>
              </a:defRPr>
            </a:pPr>
            <a:r>
              <a:t>labels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720840" y="4105656"/>
            <a:ext cx="3977639" cy="310896"/>
          </a:xfrm>
          <a:prstGeom prst="roundRect">
            <a:avLst/>
          </a:prstGeom>
          <a:solidFill>
            <a:srgbClr val="0A1B38"/>
          </a:solidFill>
          <a:ln w="10160">
            <a:solidFill>
              <a:srgbClr val="295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0" y="4187952"/>
            <a:ext cx="749808" cy="1188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700" b="0">
                <a:solidFill>
                  <a:srgbClr val="B0C5DC"/>
                </a:solidFill>
                <a:latin typeface="Consolas"/>
              </a:defRPr>
            </a:pPr>
            <a:r>
              <a:t>PMID 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18120" y="4187952"/>
            <a:ext cx="1600200" cy="1188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700" b="0">
                <a:solidFill>
                  <a:srgbClr val="F5FAFF"/>
                </a:solidFill>
                <a:latin typeface="Consolas"/>
              </a:defRPr>
            </a:pPr>
            <a:r>
              <a:t>medical abstract chunk...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02368" y="4187952"/>
            <a:ext cx="594360" cy="1188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700" b="0">
                <a:solidFill>
                  <a:srgbClr val="2DD4BF"/>
                </a:solidFill>
                <a:latin typeface="Consolas"/>
              </a:defRPr>
            </a:pPr>
            <a:r>
              <a:t>labels</a:t>
            </a:r>
          </a:p>
        </p:txBody>
      </p:sp>
    </p:spTree>
  </p:cSld>
  <p:transition spd="med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-822960"/>
            <a:ext cx="3840480" cy="3840480"/>
          </a:xfrm>
          <a:prstGeom prst="ellipse">
            <a:avLst/>
          </a:prstGeom>
          <a:solidFill>
            <a:srgbClr val="123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9326880" y="640080"/>
            <a:ext cx="731520" cy="411480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0058400" y="749808"/>
            <a:ext cx="9601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0744200" y="749808"/>
            <a:ext cx="274320" cy="877824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744200" y="1325880"/>
            <a:ext cx="7315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290304" y="60350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21824" y="101498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81944" y="713231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07624" y="1591056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9144" y="1289304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6464808"/>
            <a:ext cx="10972800" cy="27432"/>
          </a:xfrm>
          <a:prstGeom prst="rect">
            <a:avLst/>
          </a:prstGeom>
          <a:solidFill>
            <a:srgbClr val="1D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528816"/>
            <a:ext cx="6309360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800" b="0">
                <a:solidFill>
                  <a:srgbClr val="B0C5DC"/>
                </a:solidFill>
                <a:latin typeface="Aptos"/>
              </a:defRPr>
            </a:pPr>
            <a:r>
              <a:t>PubMed RAG Chatbot | MongoDB + Sentence-Transformers + Gradio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37392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r">
              <a:defRPr sz="900" b="1">
                <a:solidFill>
                  <a:srgbClr val="00DC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29184"/>
            <a:ext cx="777240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2800" b="1">
                <a:solidFill>
                  <a:srgbClr val="F5FAFF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859536"/>
            <a:ext cx="7589520" cy="3017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100" b="0">
                <a:solidFill>
                  <a:srgbClr val="00DCFF"/>
                </a:solidFill>
                <a:latin typeface="Aptos"/>
              </a:defRPr>
            </a:pPr>
            <a:r>
              <a:t>From CSV data to grounded chatbot answers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417320"/>
            <a:ext cx="2267712" cy="109728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1508760"/>
            <a:ext cx="402336" cy="402336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1618488"/>
            <a:ext cx="384048" cy="1097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700" b="1">
                <a:solidFill>
                  <a:srgbClr val="070F22"/>
                </a:solidFill>
                <a:latin typeface="Aptos"/>
              </a:defRPr>
            </a:pPr>
            <a:r>
              <a:t>CSV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9576" y="1536192"/>
            <a:ext cx="1572768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200" b="1">
                <a:solidFill>
                  <a:srgbClr val="F5FAFF"/>
                </a:solidFill>
                <a:latin typeface="Aptos"/>
              </a:defRPr>
            </a:pPr>
            <a:r>
              <a:t>Dataset CSV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1929384"/>
            <a:ext cx="1993392" cy="5303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900" b="0">
                <a:solidFill>
                  <a:srgbClr val="B0C5DC"/>
                </a:solidFill>
                <a:latin typeface="Aptos"/>
              </a:defRPr>
            </a:pPr>
            <a:r>
              <a:t>PubMed abstracts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697480" y="1901952"/>
            <a:ext cx="384048" cy="146304"/>
          </a:xfrm>
          <a:prstGeom prst="rightArrow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456432" y="1417320"/>
            <a:ext cx="2267712" cy="109728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547872" y="1508760"/>
            <a:ext cx="402336" cy="402336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57015" y="1618488"/>
            <a:ext cx="384048" cy="1097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700" b="1">
                <a:solidFill>
                  <a:srgbClr val="070F22"/>
                </a:solidFill>
                <a:latin typeface="Aptos"/>
              </a:defRPr>
            </a:pPr>
            <a:r>
              <a:t>CHK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41648" y="1536192"/>
            <a:ext cx="1572768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200" b="1">
                <a:solidFill>
                  <a:srgbClr val="F5FAFF"/>
                </a:solidFill>
                <a:latin typeface="Aptos"/>
              </a:defRPr>
            </a:pPr>
            <a:r>
              <a:t>Clean + Chunk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93591" y="1929384"/>
            <a:ext cx="1993392" cy="5303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900" b="0">
                <a:solidFill>
                  <a:srgbClr val="B0C5DC"/>
                </a:solidFill>
                <a:latin typeface="Aptos"/>
              </a:defRPr>
            </a:pPr>
            <a:r>
              <a:t>Text preprocessing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5559552" y="1901952"/>
            <a:ext cx="384048" cy="146304"/>
          </a:xfrm>
          <a:prstGeom prst="rightArrow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18504" y="1417320"/>
            <a:ext cx="2267712" cy="109728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09944" y="1508760"/>
            <a:ext cx="402336" cy="402336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1618488"/>
            <a:ext cx="384048" cy="1097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700" b="1">
                <a:solidFill>
                  <a:srgbClr val="070F22"/>
                </a:solidFill>
                <a:latin typeface="Aptos"/>
              </a:defRPr>
            </a:pPr>
            <a:r>
              <a:t>VEC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1536192"/>
            <a:ext cx="1572768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200" b="1">
                <a:solidFill>
                  <a:srgbClr val="F5FAFF"/>
                </a:solidFill>
                <a:latin typeface="Aptos"/>
              </a:defRPr>
            </a:pPr>
            <a:r>
              <a:t>Embeddings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5664" y="1929384"/>
            <a:ext cx="1993392" cy="5303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900" b="0">
                <a:solidFill>
                  <a:srgbClr val="B0C5DC"/>
                </a:solidFill>
                <a:latin typeface="Aptos"/>
              </a:defRPr>
            </a:pPr>
            <a:r>
              <a:t>Sentence-transformers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8421624" y="1901952"/>
            <a:ext cx="384048" cy="146304"/>
          </a:xfrm>
          <a:prstGeom prst="rightArrow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180576" y="1417320"/>
            <a:ext cx="2267712" cy="109728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272016" y="1508760"/>
            <a:ext cx="402336" cy="402336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81160" y="1618488"/>
            <a:ext cx="384048" cy="1097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700" b="1">
                <a:solidFill>
                  <a:srgbClr val="070F22"/>
                </a:solidFill>
                <a:latin typeface="Aptos"/>
              </a:defRPr>
            </a:pPr>
            <a:r>
              <a:t>DB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65792" y="1536192"/>
            <a:ext cx="1572768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200" b="1">
                <a:solidFill>
                  <a:srgbClr val="F5FAFF"/>
                </a:solidFill>
                <a:latin typeface="Aptos"/>
              </a:defRPr>
            </a:pPr>
            <a:r>
              <a:t>MongoDB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17736" y="1929384"/>
            <a:ext cx="1993392" cy="5303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900" b="0">
                <a:solidFill>
                  <a:srgbClr val="B0C5DC"/>
                </a:solidFill>
                <a:latin typeface="Aptos"/>
              </a:defRPr>
            </a:pPr>
            <a:r>
              <a:t>Chunks + vectors</a:t>
            </a:r>
          </a:p>
        </p:txBody>
      </p:sp>
      <p:sp>
        <p:nvSpPr>
          <p:cNvPr id="42" name="Can 41"/>
          <p:cNvSpPr/>
          <p:nvPr/>
        </p:nvSpPr>
        <p:spPr>
          <a:xfrm>
            <a:off x="9125712" y="2788920"/>
            <a:ext cx="1371600" cy="914400"/>
          </a:xfrm>
          <a:prstGeom prst="can">
            <a:avLst/>
          </a:prstGeom>
          <a:solidFill>
            <a:srgbClr val="123159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17152" y="3136391"/>
            <a:ext cx="1188720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1100" b="1">
                <a:solidFill>
                  <a:srgbClr val="2DD4BF"/>
                </a:solidFill>
                <a:latin typeface="Aptos"/>
              </a:defRPr>
            </a:pPr>
            <a:r>
              <a:t>MongoDB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4360" y="4645152"/>
            <a:ext cx="2267712" cy="109728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85800" y="4736592"/>
            <a:ext cx="402336" cy="402336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4944" y="4846320"/>
            <a:ext cx="384048" cy="1097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700" b="1">
                <a:solidFill>
                  <a:srgbClr val="070F22"/>
                </a:solidFill>
                <a:latin typeface="Aptos"/>
              </a:defRPr>
            </a:pPr>
            <a:r>
              <a:t>Q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79576" y="4764024"/>
            <a:ext cx="1572768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200" b="1">
                <a:solidFill>
                  <a:srgbClr val="F5FAFF"/>
                </a:solidFill>
                <a:latin typeface="Aptos"/>
              </a:defRPr>
            </a:pPr>
            <a:r>
              <a:t>Question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5157216"/>
            <a:ext cx="1993392" cy="5303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900" b="0">
                <a:solidFill>
                  <a:srgbClr val="B0C5DC"/>
                </a:solidFill>
                <a:latin typeface="Aptos"/>
              </a:defRPr>
            </a:pPr>
            <a:r>
              <a:t>User asks in UI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2697480" y="5129784"/>
            <a:ext cx="384048" cy="146304"/>
          </a:xfrm>
          <a:prstGeom prst="rightArrow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456432" y="4645152"/>
            <a:ext cx="2267712" cy="109728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547872" y="4736592"/>
            <a:ext cx="402336" cy="402336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57015" y="4846320"/>
            <a:ext cx="384048" cy="1097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700" b="1">
                <a:solidFill>
                  <a:srgbClr val="070F22"/>
                </a:solidFill>
                <a:latin typeface="Aptos"/>
              </a:defRPr>
            </a:pPr>
            <a:r>
              <a:t>TOP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41648" y="4764024"/>
            <a:ext cx="1572768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200" b="1">
                <a:solidFill>
                  <a:srgbClr val="F5FAFF"/>
                </a:solidFill>
                <a:latin typeface="Aptos"/>
              </a:defRPr>
            </a:pPr>
            <a:r>
              <a:t>Retrieval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93591" y="5157216"/>
            <a:ext cx="1993392" cy="5303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900" b="0">
                <a:solidFill>
                  <a:srgbClr val="B0C5DC"/>
                </a:solidFill>
                <a:latin typeface="Aptos"/>
              </a:defRPr>
            </a:pPr>
            <a:r>
              <a:t>Cosine top 5</a:t>
            </a:r>
          </a:p>
        </p:txBody>
      </p:sp>
      <p:sp>
        <p:nvSpPr>
          <p:cNvPr id="55" name="Right Arrow 54"/>
          <p:cNvSpPr/>
          <p:nvPr/>
        </p:nvSpPr>
        <p:spPr>
          <a:xfrm>
            <a:off x="5559552" y="5129784"/>
            <a:ext cx="384048" cy="146304"/>
          </a:xfrm>
          <a:prstGeom prst="rightArrow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318504" y="4645152"/>
            <a:ext cx="2267712" cy="109728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409944" y="4736592"/>
            <a:ext cx="402336" cy="402336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19088" y="4846320"/>
            <a:ext cx="384048" cy="1097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700" b="1">
                <a:solidFill>
                  <a:srgbClr val="070F22"/>
                </a:solidFill>
                <a:latin typeface="Aptos"/>
              </a:defRPr>
            </a:pPr>
            <a:r>
              <a:t>MEM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03720" y="4764024"/>
            <a:ext cx="1572768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200" b="1">
                <a:solidFill>
                  <a:srgbClr val="F5FAFF"/>
                </a:solidFill>
                <a:latin typeface="Aptos"/>
              </a:defRPr>
            </a:pPr>
            <a:r>
              <a:t>Memory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55664" y="5157216"/>
            <a:ext cx="1993392" cy="5303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900" b="0">
                <a:solidFill>
                  <a:srgbClr val="B0C5DC"/>
                </a:solidFill>
                <a:latin typeface="Aptos"/>
              </a:defRPr>
            </a:pPr>
            <a:r>
              <a:t>Short + long term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8421624" y="5129784"/>
            <a:ext cx="384048" cy="146304"/>
          </a:xfrm>
          <a:prstGeom prst="rightArrow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180576" y="4645152"/>
            <a:ext cx="2267712" cy="109728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272016" y="4736592"/>
            <a:ext cx="402336" cy="402336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281160" y="4846320"/>
            <a:ext cx="384048" cy="1097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700" b="1">
                <a:solidFill>
                  <a:srgbClr val="070F22"/>
                </a:solidFill>
                <a:latin typeface="Aptos"/>
              </a:defRPr>
            </a:pPr>
            <a:r>
              <a:t>ANS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65792" y="4764024"/>
            <a:ext cx="1572768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200" b="1">
                <a:solidFill>
                  <a:srgbClr val="F5FAFF"/>
                </a:solidFill>
                <a:latin typeface="Aptos"/>
              </a:defRPr>
            </a:pPr>
            <a:r>
              <a:t>Final Answer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17736" y="5157216"/>
            <a:ext cx="1993392" cy="5303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900" b="0">
                <a:solidFill>
                  <a:srgbClr val="B0C5DC"/>
                </a:solidFill>
                <a:latin typeface="Aptos"/>
              </a:defRPr>
            </a:pPr>
            <a:r>
              <a:t>Grounded response</a:t>
            </a:r>
          </a:p>
        </p:txBody>
      </p:sp>
      <p:cxnSp>
        <p:nvCxnSpPr>
          <p:cNvPr id="67" name="Connector 66"/>
          <p:cNvCxnSpPr/>
          <p:nvPr/>
        </p:nvCxnSpPr>
        <p:spPr>
          <a:xfrm flipH="1">
            <a:off x="4617720" y="3703320"/>
            <a:ext cx="5184648" cy="94183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5257800" y="3246120"/>
            <a:ext cx="306324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1000" b="0">
                <a:solidFill>
                  <a:srgbClr val="00DCFF"/>
                </a:solidFill>
                <a:latin typeface="Aptos"/>
              </a:defRPr>
            </a:pPr>
            <a:r>
              <a:t>Stored vectors searched at question time</a:t>
            </a:r>
          </a:p>
        </p:txBody>
      </p:sp>
    </p:spTree>
  </p:cSld>
  <p:transition spd="med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-822960"/>
            <a:ext cx="3840480" cy="3840480"/>
          </a:xfrm>
          <a:prstGeom prst="ellipse">
            <a:avLst/>
          </a:prstGeom>
          <a:solidFill>
            <a:srgbClr val="123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9326880" y="640080"/>
            <a:ext cx="731520" cy="411480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0058400" y="749808"/>
            <a:ext cx="9601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0744200" y="749808"/>
            <a:ext cx="274320" cy="877824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744200" y="1325880"/>
            <a:ext cx="7315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290304" y="60350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21824" y="101498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81944" y="713231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07624" y="1591056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9144" y="1289304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6464808"/>
            <a:ext cx="10972800" cy="27432"/>
          </a:xfrm>
          <a:prstGeom prst="rect">
            <a:avLst/>
          </a:prstGeom>
          <a:solidFill>
            <a:srgbClr val="1D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528816"/>
            <a:ext cx="6309360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800" b="0">
                <a:solidFill>
                  <a:srgbClr val="B0C5DC"/>
                </a:solidFill>
                <a:latin typeface="Aptos"/>
              </a:defRPr>
            </a:pPr>
            <a:r>
              <a:t>PubMed RAG Chatbot | MongoDB + Sentence-Transformers + Gradio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37392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r">
              <a:defRPr sz="900" b="1">
                <a:solidFill>
                  <a:srgbClr val="00DCF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29184"/>
            <a:ext cx="777240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2800" b="1">
                <a:solidFill>
                  <a:srgbClr val="F5FAFF"/>
                </a:solidFill>
                <a:latin typeface="Aptos Display"/>
              </a:defRPr>
            </a:pPr>
            <a:r>
              <a:t>Chunking and Embeddings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859536"/>
            <a:ext cx="7589520" cy="3017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100" b="0">
                <a:solidFill>
                  <a:srgbClr val="00DCFF"/>
                </a:solidFill>
                <a:latin typeface="Aptos"/>
              </a:defRPr>
            </a:pPr>
            <a:r>
              <a:t>Turning abstracts into searchable vectors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1371600"/>
            <a:ext cx="2926080" cy="448056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1481328"/>
            <a:ext cx="259689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300" b="1">
                <a:solidFill>
                  <a:srgbClr val="00DCFF"/>
                </a:solidFill>
                <a:latin typeface="Aptos"/>
              </a:defRPr>
            </a:pPr>
            <a:r>
              <a:t>1. Clean 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1938528"/>
            <a:ext cx="2331720" cy="7315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400" b="0">
                <a:solidFill>
                  <a:srgbClr val="F5FAFF"/>
                </a:solidFill>
                <a:latin typeface="Aptos"/>
              </a:defRPr>
            </a:pPr>
            <a:r>
              <a:t>Remove extra spaces and prepare abstract text for chunking.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127248"/>
            <a:ext cx="2148840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300" b="0">
                <a:solidFill>
                  <a:srgbClr val="B0C5DC"/>
                </a:solidFill>
                <a:latin typeface="Consolas"/>
              </a:defRPr>
            </a:pPr>
            <a:r>
              <a:t>Abstract text</a:t>
            </a:r>
            <a:br/>
            <a:r>
              <a:t>Title metadata</a:t>
            </a:r>
            <a:br/>
            <a:r>
              <a:t>Labels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858768" y="3246120"/>
            <a:ext cx="502920" cy="182880"/>
          </a:xfrm>
          <a:prstGeom prst="rightArrow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26280" y="1371600"/>
            <a:ext cx="2971800" cy="448056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90872" y="1481328"/>
            <a:ext cx="264261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300" b="1">
                <a:solidFill>
                  <a:srgbClr val="00DCFF"/>
                </a:solidFill>
                <a:latin typeface="Aptos"/>
              </a:defRPr>
            </a:pPr>
            <a:r>
              <a:t>2. Split Into Chunks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92040" y="1965960"/>
            <a:ext cx="2148840" cy="384048"/>
          </a:xfrm>
          <a:prstGeom prst="roundRect">
            <a:avLst/>
          </a:prstGeom>
          <a:solidFill>
            <a:srgbClr val="0A1B38"/>
          </a:solidFill>
          <a:ln w="1270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0" y="2075688"/>
            <a:ext cx="1097280" cy="128016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800" b="1">
                <a:solidFill>
                  <a:srgbClr val="F5FAFF"/>
                </a:solidFill>
                <a:latin typeface="Consolas"/>
              </a:defRPr>
            </a:pPr>
            <a:r>
              <a:t>Chunk 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92040" y="2624328"/>
            <a:ext cx="2148840" cy="384048"/>
          </a:xfrm>
          <a:prstGeom prst="roundRect">
            <a:avLst/>
          </a:prstGeom>
          <a:solidFill>
            <a:srgbClr val="0A1B38"/>
          </a:solidFill>
          <a:ln w="1270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0" y="2734056"/>
            <a:ext cx="1097280" cy="128016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800" b="1">
                <a:solidFill>
                  <a:srgbClr val="F5FAFF"/>
                </a:solidFill>
                <a:latin typeface="Consolas"/>
              </a:defRPr>
            </a:pPr>
            <a:r>
              <a:t>Chunk 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92040" y="3282696"/>
            <a:ext cx="2148840" cy="384048"/>
          </a:xfrm>
          <a:prstGeom prst="roundRect">
            <a:avLst/>
          </a:prstGeom>
          <a:solidFill>
            <a:srgbClr val="0A1B38"/>
          </a:solidFill>
          <a:ln w="1270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0" y="3392424"/>
            <a:ext cx="1097280" cy="128016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800" b="1">
                <a:solidFill>
                  <a:srgbClr val="F5FAFF"/>
                </a:solidFill>
                <a:latin typeface="Consolas"/>
              </a:defRPr>
            </a:pPr>
            <a:r>
              <a:t>Chunk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4343400"/>
            <a:ext cx="2331720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300" b="0">
                <a:solidFill>
                  <a:srgbClr val="B0C5DC"/>
                </a:solidFill>
                <a:latin typeface="Aptos"/>
              </a:defRPr>
            </a:pPr>
            <a:r>
              <a:t>Smaller chunks improve retrieval precision.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708392" y="3246120"/>
            <a:ext cx="502920" cy="182880"/>
          </a:xfrm>
          <a:prstGeom prst="rightArrow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366760" y="1371600"/>
            <a:ext cx="2971800" cy="448056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31352" y="1481328"/>
            <a:ext cx="264261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300" b="1">
                <a:solidFill>
                  <a:srgbClr val="00DCFF"/>
                </a:solidFill>
                <a:latin typeface="Aptos"/>
              </a:defRPr>
            </a:pPr>
            <a:r>
              <a:t>3. Vector Embeddings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41080" y="1874519"/>
            <a:ext cx="2331720" cy="6583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300" b="0">
                <a:solidFill>
                  <a:srgbClr val="F5FAFF"/>
                </a:solidFill>
                <a:latin typeface="Aptos"/>
              </a:defRPr>
            </a:pPr>
            <a:r>
              <a:t>sentence-transformers converts text meaning into numbers.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79408" y="3542385"/>
            <a:ext cx="91440" cy="25237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44000" y="3163824"/>
            <a:ext cx="91440" cy="630936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308592" y="3374136"/>
            <a:ext cx="91440" cy="42062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473184" y="3054461"/>
            <a:ext cx="91440" cy="740298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637776" y="3441435"/>
            <a:ext cx="91440" cy="35332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802368" y="3247948"/>
            <a:ext cx="91440" cy="546811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966960" y="3609685"/>
            <a:ext cx="91440" cy="18507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131552" y="3306836"/>
            <a:ext cx="91440" cy="487923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06256" y="3886200"/>
            <a:ext cx="1645920" cy="1828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800" b="0">
                <a:solidFill>
                  <a:srgbClr val="B0C5DC"/>
                </a:solidFill>
                <a:latin typeface="Consolas"/>
              </a:defRPr>
            </a:pPr>
            <a:r>
              <a:t>[0.21, 0.78, 0.46, ...]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13648" y="4828032"/>
            <a:ext cx="237744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100" b="0">
                <a:solidFill>
                  <a:srgbClr val="B0C5DC"/>
                </a:solidFill>
                <a:latin typeface="Aptos"/>
              </a:defRPr>
            </a:pPr>
            <a:r>
              <a:t>Similar meaning = vectors point in similar directions</a:t>
            </a:r>
          </a:p>
        </p:txBody>
      </p:sp>
    </p:spTree>
  </p:cSld>
  <p:transition spd="med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-822960"/>
            <a:ext cx="3840480" cy="3840480"/>
          </a:xfrm>
          <a:prstGeom prst="ellipse">
            <a:avLst/>
          </a:prstGeom>
          <a:solidFill>
            <a:srgbClr val="123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9326880" y="640080"/>
            <a:ext cx="731520" cy="411480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0058400" y="749808"/>
            <a:ext cx="9601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0744200" y="749808"/>
            <a:ext cx="274320" cy="877824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744200" y="1325880"/>
            <a:ext cx="7315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290304" y="60350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21824" y="101498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81944" y="713231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07624" y="1591056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9144" y="1289304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6464808"/>
            <a:ext cx="10972800" cy="27432"/>
          </a:xfrm>
          <a:prstGeom prst="rect">
            <a:avLst/>
          </a:prstGeom>
          <a:solidFill>
            <a:srgbClr val="1D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528816"/>
            <a:ext cx="6309360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800" b="0">
                <a:solidFill>
                  <a:srgbClr val="B0C5DC"/>
                </a:solidFill>
                <a:latin typeface="Aptos"/>
              </a:defRPr>
            </a:pPr>
            <a:r>
              <a:t>PubMed RAG Chatbot | MongoDB + Sentence-Transformers + Gradio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37392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r">
              <a:defRPr sz="900" b="1">
                <a:solidFill>
                  <a:srgbClr val="00DCF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29184"/>
            <a:ext cx="777240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2800" b="1">
                <a:solidFill>
                  <a:srgbClr val="F5FAFF"/>
                </a:solidFill>
                <a:latin typeface="Aptos Display"/>
              </a:defRPr>
            </a:pPr>
            <a:r>
              <a:t>MongoDB 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859536"/>
            <a:ext cx="7589520" cy="3017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100" b="0">
                <a:solidFill>
                  <a:srgbClr val="00DCFF"/>
                </a:solidFill>
                <a:latin typeface="Aptos"/>
              </a:defRPr>
            </a:pPr>
            <a:r>
              <a:t>What is stored after ingestion</a:t>
            </a:r>
          </a:p>
        </p:txBody>
      </p:sp>
      <p:sp>
        <p:nvSpPr>
          <p:cNvPr id="19" name="Can 18"/>
          <p:cNvSpPr/>
          <p:nvPr/>
        </p:nvSpPr>
        <p:spPr>
          <a:xfrm>
            <a:off x="868680" y="1874519"/>
            <a:ext cx="2057400" cy="2743200"/>
          </a:xfrm>
          <a:prstGeom prst="can">
            <a:avLst/>
          </a:prstGeom>
          <a:solidFill>
            <a:srgbClr val="123159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136391"/>
            <a:ext cx="1874519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1100" b="1">
                <a:solidFill>
                  <a:srgbClr val="2DD4BF"/>
                </a:solidFill>
                <a:latin typeface="Aptos"/>
              </a:defRPr>
            </a:pPr>
            <a:r>
              <a:t>pubmed_chunks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1325880"/>
            <a:ext cx="8001000" cy="470916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47872" y="1435607"/>
            <a:ext cx="767181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300" b="1">
                <a:solidFill>
                  <a:srgbClr val="00DCFF"/>
                </a:solidFill>
                <a:latin typeface="Aptos"/>
              </a:defRPr>
            </a:pPr>
            <a:r>
              <a:t>Stored Document Shape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03320" y="1856231"/>
            <a:ext cx="7086600" cy="320040"/>
          </a:xfrm>
          <a:prstGeom prst="roundRect">
            <a:avLst/>
          </a:prstGeom>
          <a:solidFill>
            <a:srgbClr val="0A1B38"/>
          </a:solidFill>
          <a:ln w="10160">
            <a:solidFill>
              <a:srgbClr val="2C5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58768" y="1947672"/>
            <a:ext cx="6720840" cy="1097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900" b="0">
                <a:solidFill>
                  <a:srgbClr val="F5FAFF"/>
                </a:solidFill>
                <a:latin typeface="Consolas"/>
              </a:defRPr>
            </a:pPr>
            <a:r>
              <a:t>text: "medical chunk text..."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03320" y="2350008"/>
            <a:ext cx="7086600" cy="320040"/>
          </a:xfrm>
          <a:prstGeom prst="roundRect">
            <a:avLst/>
          </a:prstGeom>
          <a:solidFill>
            <a:srgbClr val="123159"/>
          </a:solidFill>
          <a:ln w="10160">
            <a:solidFill>
              <a:srgbClr val="2C5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58768" y="2441448"/>
            <a:ext cx="6720840" cy="1097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900" b="0">
                <a:solidFill>
                  <a:srgbClr val="F5FAFF"/>
                </a:solidFill>
                <a:latin typeface="Consolas"/>
              </a:defRPr>
            </a:pPr>
            <a:r>
              <a:t>embedding: [0.021, -0.113, 0.402, ...]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03320" y="2843784"/>
            <a:ext cx="7086600" cy="320040"/>
          </a:xfrm>
          <a:prstGeom prst="roundRect">
            <a:avLst/>
          </a:prstGeom>
          <a:solidFill>
            <a:srgbClr val="0A1B38"/>
          </a:solidFill>
          <a:ln w="10160">
            <a:solidFill>
              <a:srgbClr val="2C5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58768" y="2935224"/>
            <a:ext cx="6720840" cy="1097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900" b="0">
                <a:solidFill>
                  <a:srgbClr val="F5FAFF"/>
                </a:solidFill>
                <a:latin typeface="Consolas"/>
              </a:defRPr>
            </a:pPr>
            <a:r>
              <a:t>chunk_hash: duplicate prevention key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03320" y="3337560"/>
            <a:ext cx="7086600" cy="320040"/>
          </a:xfrm>
          <a:prstGeom prst="roundRect">
            <a:avLst/>
          </a:prstGeom>
          <a:solidFill>
            <a:srgbClr val="123159"/>
          </a:solidFill>
          <a:ln w="10160">
            <a:solidFill>
              <a:srgbClr val="2C5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58768" y="3429000"/>
            <a:ext cx="6720840" cy="1097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900" b="0">
                <a:solidFill>
                  <a:srgbClr val="F5FAFF"/>
                </a:solidFill>
                <a:latin typeface="Consolas"/>
              </a:defRPr>
            </a:pPr>
            <a:r>
              <a:t>metadata.source_file: CSV file name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03320" y="3831335"/>
            <a:ext cx="7086600" cy="320040"/>
          </a:xfrm>
          <a:prstGeom prst="roundRect">
            <a:avLst/>
          </a:prstGeom>
          <a:solidFill>
            <a:srgbClr val="0A1B38"/>
          </a:solidFill>
          <a:ln w="10160">
            <a:solidFill>
              <a:srgbClr val="2C5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58768" y="3922775"/>
            <a:ext cx="6720840" cy="1097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900" b="0">
                <a:solidFill>
                  <a:srgbClr val="F5FAFF"/>
                </a:solidFill>
                <a:latin typeface="Consolas"/>
              </a:defRPr>
            </a:pPr>
            <a:r>
              <a:t>metadata.row_index / chunk_index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03320" y="4325112"/>
            <a:ext cx="7086600" cy="320040"/>
          </a:xfrm>
          <a:prstGeom prst="roundRect">
            <a:avLst/>
          </a:prstGeom>
          <a:solidFill>
            <a:srgbClr val="123159"/>
          </a:solidFill>
          <a:ln w="10160">
            <a:solidFill>
              <a:srgbClr val="2C5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58768" y="4416552"/>
            <a:ext cx="6720840" cy="1097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900" b="0">
                <a:solidFill>
                  <a:srgbClr val="F5FAFF"/>
                </a:solidFill>
                <a:latin typeface="Consolas"/>
              </a:defRPr>
            </a:pPr>
            <a:r>
              <a:t>metadata.pmid / title / labels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749039" y="5074920"/>
            <a:ext cx="1417320" cy="310896"/>
          </a:xfrm>
          <a:prstGeom prst="roundRect">
            <a:avLst/>
          </a:prstGeom>
          <a:solidFill>
            <a:srgbClr val="0F2342"/>
          </a:solidFill>
          <a:ln w="1397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03903" y="5138928"/>
            <a:ext cx="1307592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800" b="1">
                <a:solidFill>
                  <a:srgbClr val="F5FAFF"/>
                </a:solidFill>
                <a:latin typeface="Aptos"/>
              </a:defRPr>
            </a:pPr>
            <a:r>
              <a:t>Unique chunk_hash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76672" y="5074920"/>
            <a:ext cx="1417320" cy="310896"/>
          </a:xfrm>
          <a:prstGeom prst="roundRect">
            <a:avLst/>
          </a:prstGeom>
          <a:solidFill>
            <a:srgbClr val="0F2342"/>
          </a:solidFill>
          <a:ln w="1397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31536" y="5138928"/>
            <a:ext cx="1307592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800" b="1">
                <a:solidFill>
                  <a:srgbClr val="F5FAFF"/>
                </a:solidFill>
                <a:latin typeface="Aptos"/>
              </a:defRPr>
            </a:pPr>
            <a:r>
              <a:t>Vector search ready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04304" y="5074920"/>
            <a:ext cx="1508760" cy="310896"/>
          </a:xfrm>
          <a:prstGeom prst="roundRect">
            <a:avLst/>
          </a:prstGeom>
          <a:solidFill>
            <a:srgbClr val="0F2342"/>
          </a:solidFill>
          <a:ln w="1397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59168" y="5138928"/>
            <a:ext cx="1399031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800" b="1">
                <a:solidFill>
                  <a:srgbClr val="F5FAFF"/>
                </a:solidFill>
                <a:latin typeface="Aptos"/>
              </a:defRPr>
            </a:pPr>
            <a:r>
              <a:t>Metadata for sources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732520" y="5074920"/>
            <a:ext cx="1353312" cy="310896"/>
          </a:xfrm>
          <a:prstGeom prst="roundRect">
            <a:avLst/>
          </a:prstGeom>
          <a:solidFill>
            <a:srgbClr val="0F2342"/>
          </a:solidFill>
          <a:ln w="1397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87384" y="5138928"/>
            <a:ext cx="1243584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800" b="1">
                <a:solidFill>
                  <a:srgbClr val="F5FAFF"/>
                </a:solidFill>
                <a:latin typeface="Aptos"/>
              </a:defRPr>
            </a:pPr>
            <a:r>
              <a:t>Labels if available</a:t>
            </a:r>
          </a:p>
        </p:txBody>
      </p:sp>
    </p:spTree>
  </p:cSld>
  <p:transition spd="med">
    <p:fade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-822960"/>
            <a:ext cx="3840480" cy="3840480"/>
          </a:xfrm>
          <a:prstGeom prst="ellipse">
            <a:avLst/>
          </a:prstGeom>
          <a:solidFill>
            <a:srgbClr val="123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9326880" y="640080"/>
            <a:ext cx="731520" cy="411480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0058400" y="749808"/>
            <a:ext cx="9601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0744200" y="749808"/>
            <a:ext cx="274320" cy="877824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744200" y="1325880"/>
            <a:ext cx="7315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290304" y="60350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21824" y="101498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81944" y="713231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07624" y="1591056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9144" y="1289304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6464808"/>
            <a:ext cx="10972800" cy="27432"/>
          </a:xfrm>
          <a:prstGeom prst="rect">
            <a:avLst/>
          </a:prstGeom>
          <a:solidFill>
            <a:srgbClr val="1D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528816"/>
            <a:ext cx="6309360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800" b="0">
                <a:solidFill>
                  <a:srgbClr val="B0C5DC"/>
                </a:solidFill>
                <a:latin typeface="Aptos"/>
              </a:defRPr>
            </a:pPr>
            <a:r>
              <a:t>PubMed RAG Chatbot | MongoDB + Sentence-Transformers + Gradio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37392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r">
              <a:defRPr sz="900" b="1">
                <a:solidFill>
                  <a:srgbClr val="00DCFF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29184"/>
            <a:ext cx="777240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2800" b="1">
                <a:solidFill>
                  <a:srgbClr val="F5FAFF"/>
                </a:solidFill>
                <a:latin typeface="Aptos Display"/>
              </a:defRPr>
            </a:pPr>
            <a:r>
              <a:t>Retrieval 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859536"/>
            <a:ext cx="7589520" cy="3017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100" b="0">
                <a:solidFill>
                  <a:srgbClr val="00DCFF"/>
                </a:solidFill>
                <a:latin typeface="Aptos"/>
              </a:defRPr>
            </a:pPr>
            <a:r>
              <a:t>Cosine similarity finds the most relevant chunks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1572768"/>
            <a:ext cx="2468880" cy="1170432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" y="1664208"/>
            <a:ext cx="402336" cy="402336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1773936"/>
            <a:ext cx="384048" cy="1097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700" b="1">
                <a:solidFill>
                  <a:srgbClr val="070F22"/>
                </a:solidFill>
                <a:latin typeface="Aptos"/>
              </a:defRPr>
            </a:pPr>
            <a:r>
              <a:t>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1016" y="1691640"/>
            <a:ext cx="1773936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200" b="1">
                <a:solidFill>
                  <a:srgbClr val="F5FAFF"/>
                </a:solidFill>
                <a:latin typeface="Aptos"/>
              </a:defRPr>
            </a:pPr>
            <a:r>
              <a:t>Question Embedding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2084832"/>
            <a:ext cx="2194560" cy="6035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900" b="0">
                <a:solidFill>
                  <a:srgbClr val="B0C5DC"/>
                </a:solidFill>
                <a:latin typeface="Aptos"/>
              </a:defRPr>
            </a:pPr>
            <a:r>
              <a:t>Embed the user question with the same model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383280" y="2057400"/>
            <a:ext cx="457200" cy="164592"/>
          </a:xfrm>
          <a:prstGeom prst="rightArrow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069080" y="1572768"/>
            <a:ext cx="2697480" cy="1170432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160520" y="1664208"/>
            <a:ext cx="402336" cy="402336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69664" y="1773936"/>
            <a:ext cx="384048" cy="1097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700" b="1">
                <a:solidFill>
                  <a:srgbClr val="070F22"/>
                </a:solidFill>
                <a:latin typeface="Aptos"/>
              </a:defRPr>
            </a:pPr>
            <a:r>
              <a:t>COS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54296" y="1691640"/>
            <a:ext cx="2002536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200" b="1">
                <a:solidFill>
                  <a:srgbClr val="F5FAFF"/>
                </a:solidFill>
                <a:latin typeface="Aptos"/>
              </a:defRPr>
            </a:pPr>
            <a:r>
              <a:t>Compare Vectors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2084832"/>
            <a:ext cx="2423160" cy="6035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900" b="0">
                <a:solidFill>
                  <a:srgbClr val="B0C5DC"/>
                </a:solidFill>
                <a:latin typeface="Aptos"/>
              </a:defRPr>
            </a:pPr>
            <a:r>
              <a:t>Calculate cosine similarity against MongoDB chunks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6995160" y="2057400"/>
            <a:ext cx="457200" cy="164592"/>
          </a:xfrm>
          <a:prstGeom prst="rightArrow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680960" y="1572768"/>
            <a:ext cx="2788920" cy="1170432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772400" y="1664208"/>
            <a:ext cx="402336" cy="402336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81544" y="1773936"/>
            <a:ext cx="384048" cy="1097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700" b="1">
                <a:solidFill>
                  <a:srgbClr val="070F22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66176" y="1691640"/>
            <a:ext cx="2093976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200" b="1">
                <a:solidFill>
                  <a:srgbClr val="F5FAFF"/>
                </a:solidFill>
                <a:latin typeface="Aptos"/>
              </a:defRPr>
            </a:pPr>
            <a:r>
              <a:t>Top 5 Chunks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2084832"/>
            <a:ext cx="2514600" cy="6035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900" b="0">
                <a:solidFill>
                  <a:srgbClr val="B0C5DC"/>
                </a:solidFill>
                <a:latin typeface="Aptos"/>
              </a:defRPr>
            </a:pPr>
            <a:r>
              <a:t>Keep the strongest source chunks for the prompt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" y="3730752"/>
            <a:ext cx="4434840" cy="160020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3271" y="3840480"/>
            <a:ext cx="4105655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300" b="1">
                <a:solidFill>
                  <a:srgbClr val="00DCFF"/>
                </a:solidFill>
                <a:latin typeface="Aptos"/>
              </a:defRPr>
            </a:pPr>
            <a:r>
              <a:t>Cosine Similarity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4343400"/>
            <a:ext cx="384048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1400" b="0">
                <a:solidFill>
                  <a:srgbClr val="F5FAFF"/>
                </a:solidFill>
                <a:latin typeface="Consolas"/>
              </a:defRPr>
            </a:pPr>
            <a:r>
              <a:t>score = dot(question_vector, chunk_vector)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4773168"/>
            <a:ext cx="3566160" cy="219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1100" b="0">
                <a:solidFill>
                  <a:srgbClr val="B0C5DC"/>
                </a:solidFill>
                <a:latin typeface="Aptos"/>
              </a:defRPr>
            </a:pPr>
            <a:r>
              <a:t>Higher score means closer semantic meaning.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06440" y="3383280"/>
            <a:ext cx="5257800" cy="2267712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71031" y="3493008"/>
            <a:ext cx="492861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300" b="1">
                <a:solidFill>
                  <a:srgbClr val="00DCFF"/>
                </a:solidFill>
                <a:latin typeface="Aptos"/>
              </a:defRPr>
            </a:pPr>
            <a:r>
              <a:t>Ranked Results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08192" y="3822191"/>
            <a:ext cx="731520" cy="1097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800" b="1">
                <a:solidFill>
                  <a:srgbClr val="F5FAFF"/>
                </a:solidFill>
                <a:latin typeface="Consolas"/>
              </a:defRPr>
            </a:pPr>
            <a:r>
              <a:t>Source 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59168" y="3822191"/>
            <a:ext cx="868680" cy="1097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800" b="0">
                <a:solidFill>
                  <a:srgbClr val="00DCFF"/>
                </a:solidFill>
                <a:latin typeface="Consolas"/>
              </a:defRPr>
            </a:pPr>
            <a:r>
              <a:t>score 0.5358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3822191"/>
            <a:ext cx="2423160" cy="1097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800" b="0">
                <a:solidFill>
                  <a:srgbClr val="B0C5DC"/>
                </a:solidFill>
                <a:latin typeface="Consolas"/>
              </a:defRPr>
            </a:pPr>
            <a:r>
              <a:t>metadata + abstract chunk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08192" y="4133087"/>
            <a:ext cx="731520" cy="1097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800" b="1">
                <a:solidFill>
                  <a:srgbClr val="F5FAFF"/>
                </a:solidFill>
                <a:latin typeface="Consolas"/>
              </a:defRPr>
            </a:pPr>
            <a:r>
              <a:t>Source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59168" y="4133087"/>
            <a:ext cx="868680" cy="1097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800" b="0">
                <a:solidFill>
                  <a:srgbClr val="00DCFF"/>
                </a:solidFill>
                <a:latin typeface="Consolas"/>
              </a:defRPr>
            </a:pPr>
            <a:r>
              <a:t>score 0.5312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60" y="4133087"/>
            <a:ext cx="2423160" cy="1097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800" b="0">
                <a:solidFill>
                  <a:srgbClr val="B0C5DC"/>
                </a:solidFill>
                <a:latin typeface="Consolas"/>
              </a:defRPr>
            </a:pPr>
            <a:r>
              <a:t>metadata + abstract chunk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08192" y="4443983"/>
            <a:ext cx="731520" cy="1097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800" b="1">
                <a:solidFill>
                  <a:srgbClr val="F5FAFF"/>
                </a:solidFill>
                <a:latin typeface="Consolas"/>
              </a:defRPr>
            </a:pPr>
            <a:r>
              <a:t>Source 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59168" y="4443983"/>
            <a:ext cx="868680" cy="1097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800" b="0">
                <a:solidFill>
                  <a:srgbClr val="00DCFF"/>
                </a:solidFill>
                <a:latin typeface="Consolas"/>
              </a:defRPr>
            </a:pPr>
            <a:r>
              <a:t>score 0.5134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8160" y="4443983"/>
            <a:ext cx="2423160" cy="1097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800" b="0">
                <a:solidFill>
                  <a:srgbClr val="B0C5DC"/>
                </a:solidFill>
                <a:latin typeface="Consolas"/>
              </a:defRPr>
            </a:pPr>
            <a:r>
              <a:t>metadata + abstract chunk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08192" y="4754879"/>
            <a:ext cx="731520" cy="1097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800" b="1">
                <a:solidFill>
                  <a:srgbClr val="F5FAFF"/>
                </a:solidFill>
                <a:latin typeface="Consolas"/>
              </a:defRPr>
            </a:pPr>
            <a:r>
              <a:t>Source 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59168" y="4754879"/>
            <a:ext cx="868680" cy="1097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800" b="0">
                <a:solidFill>
                  <a:srgbClr val="00DCFF"/>
                </a:solidFill>
                <a:latin typeface="Consolas"/>
              </a:defRPr>
            </a:pPr>
            <a:r>
              <a:t>score 0.5015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38160" y="4754879"/>
            <a:ext cx="2423160" cy="1097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800" b="0">
                <a:solidFill>
                  <a:srgbClr val="B0C5DC"/>
                </a:solidFill>
                <a:latin typeface="Consolas"/>
              </a:defRPr>
            </a:pPr>
            <a:r>
              <a:t>metadata + abstract chunk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08192" y="5065776"/>
            <a:ext cx="731520" cy="1097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800" b="1">
                <a:solidFill>
                  <a:srgbClr val="F5FAFF"/>
                </a:solidFill>
                <a:latin typeface="Consolas"/>
              </a:defRPr>
            </a:pPr>
            <a:r>
              <a:t>Source 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59168" y="5065776"/>
            <a:ext cx="868680" cy="1097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800" b="0">
                <a:solidFill>
                  <a:srgbClr val="00DCFF"/>
                </a:solidFill>
                <a:latin typeface="Consolas"/>
              </a:defRPr>
            </a:pPr>
            <a:r>
              <a:t>score 0.5004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5065776"/>
            <a:ext cx="2423160" cy="1097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800" b="0">
                <a:solidFill>
                  <a:srgbClr val="B0C5DC"/>
                </a:solidFill>
                <a:latin typeface="Consolas"/>
              </a:defRPr>
            </a:pPr>
            <a:r>
              <a:t>metadata + abstract chunk</a:t>
            </a:r>
          </a:p>
        </p:txBody>
      </p:sp>
    </p:spTree>
  </p:cSld>
  <p:transition spd="med">
    <p:fade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-822960"/>
            <a:ext cx="3840480" cy="3840480"/>
          </a:xfrm>
          <a:prstGeom prst="ellipse">
            <a:avLst/>
          </a:prstGeom>
          <a:solidFill>
            <a:srgbClr val="123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9326880" y="640080"/>
            <a:ext cx="731520" cy="411480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0058400" y="749808"/>
            <a:ext cx="9601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0744200" y="749808"/>
            <a:ext cx="274320" cy="877824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744200" y="1325880"/>
            <a:ext cx="7315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290304" y="60350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21824" y="101498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81944" y="713231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07624" y="1591056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9144" y="1289304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6464808"/>
            <a:ext cx="10972800" cy="27432"/>
          </a:xfrm>
          <a:prstGeom prst="rect">
            <a:avLst/>
          </a:prstGeom>
          <a:solidFill>
            <a:srgbClr val="1D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528816"/>
            <a:ext cx="6309360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800" b="0">
                <a:solidFill>
                  <a:srgbClr val="B0C5DC"/>
                </a:solidFill>
                <a:latin typeface="Aptos"/>
              </a:defRPr>
            </a:pPr>
            <a:r>
              <a:t>PubMed RAG Chatbot | MongoDB + Sentence-Transformers + Gradio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37392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r">
              <a:defRPr sz="900" b="1">
                <a:solidFill>
                  <a:srgbClr val="00DCF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29184"/>
            <a:ext cx="777240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2800" b="1">
                <a:solidFill>
                  <a:srgbClr val="F5FAFF"/>
                </a:solidFill>
                <a:latin typeface="Aptos Display"/>
              </a:defRPr>
            </a:pPr>
            <a:r>
              <a:t>Memory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859536"/>
            <a:ext cx="7589520" cy="3017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100" b="0">
                <a:solidFill>
                  <a:srgbClr val="00DCFF"/>
                </a:solidFill>
                <a:latin typeface="Aptos"/>
              </a:defRPr>
            </a:pPr>
            <a:r>
              <a:t>Short-term chat state plus long-term vector memory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1325880"/>
            <a:ext cx="4983480" cy="457200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1435607"/>
            <a:ext cx="465429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300" b="1">
                <a:solidFill>
                  <a:srgbClr val="00DCFF"/>
                </a:solidFill>
                <a:latin typeface="Aptos"/>
              </a:defRPr>
            </a:pPr>
            <a:r>
              <a:t>Short-Term Memory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1901952"/>
            <a:ext cx="4389120" cy="1920240"/>
          </a:xfrm>
          <a:prstGeom prst="rect">
            <a:avLst/>
          </a:prstGeom>
          <a:noFill/>
        </p:spPr>
        <p:txBody>
          <a:bodyPr wrap="square" lIns="45720" rIns="45720" tIns="18288">
            <a:norm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5FAFF"/>
                </a:solidFill>
                <a:latin typeface="Aptos"/>
              </a:defRPr>
            </a:pPr>
            <a:r>
              <a:t>- Lives inside the active chat session</a:t>
            </a:r>
          </a:p>
          <a:p>
            <a:pPr>
              <a:spcAft>
                <a:spcPts val="700"/>
              </a:spcAft>
              <a:defRPr sz="1500">
                <a:solidFill>
                  <a:srgbClr val="F5FAFF"/>
                </a:solidFill>
                <a:latin typeface="Aptos"/>
              </a:defRPr>
            </a:pPr>
            <a:r>
              <a:t>- Stores role/content pairs</a:t>
            </a:r>
          </a:p>
          <a:p>
            <a:pPr>
              <a:spcAft>
                <a:spcPts val="700"/>
              </a:spcAft>
              <a:defRPr sz="1500">
                <a:solidFill>
                  <a:srgbClr val="F5FAFF"/>
                </a:solidFill>
                <a:latin typeface="Aptos"/>
              </a:defRPr>
            </a:pPr>
            <a:r>
              <a:t>- Keeps the last 20 messages</a:t>
            </a:r>
          </a:p>
          <a:p>
            <a:pPr>
              <a:spcAft>
                <a:spcPts val="700"/>
              </a:spcAft>
              <a:defRPr sz="1500">
                <a:solidFill>
                  <a:srgbClr val="F5FAFF"/>
                </a:solidFill>
                <a:latin typeface="Aptos"/>
              </a:defRPr>
            </a:pPr>
            <a:r>
              <a:t>- Used to understand recent follow-up questions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88720" y="4160520"/>
            <a:ext cx="3977639" cy="228600"/>
          </a:xfrm>
          <a:prstGeom prst="roundRect">
            <a:avLst/>
          </a:prstGeom>
          <a:solidFill>
            <a:srgbClr val="0A1B38"/>
          </a:solidFill>
          <a:ln w="1016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4224528"/>
            <a:ext cx="3520440" cy="91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700" b="0">
                <a:solidFill>
                  <a:srgbClr val="B0C5DC"/>
                </a:solidFill>
                <a:latin typeface="Consolas"/>
              </a:defRPr>
            </a:pPr>
            <a:r>
              <a:t>user: message content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88720" y="4489704"/>
            <a:ext cx="3977639" cy="228600"/>
          </a:xfrm>
          <a:prstGeom prst="roundRect">
            <a:avLst/>
          </a:prstGeom>
          <a:solidFill>
            <a:srgbClr val="0A1B38"/>
          </a:solidFill>
          <a:ln w="1016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5880" y="4553712"/>
            <a:ext cx="3520440" cy="91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700" b="0">
                <a:solidFill>
                  <a:srgbClr val="B0C5DC"/>
                </a:solidFill>
                <a:latin typeface="Consolas"/>
              </a:defRPr>
            </a:pPr>
            <a:r>
              <a:t>assistant: message content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88720" y="4818888"/>
            <a:ext cx="3977639" cy="228600"/>
          </a:xfrm>
          <a:prstGeom prst="roundRect">
            <a:avLst/>
          </a:prstGeom>
          <a:solidFill>
            <a:srgbClr val="0A1B38"/>
          </a:solidFill>
          <a:ln w="1016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25880" y="4882896"/>
            <a:ext cx="3520440" cy="91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700" b="0">
                <a:solidFill>
                  <a:srgbClr val="B0C5DC"/>
                </a:solidFill>
                <a:latin typeface="Consolas"/>
              </a:defRPr>
            </a:pPr>
            <a:r>
              <a:t>user: message content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1325880"/>
            <a:ext cx="4983480" cy="457200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65392" y="1435607"/>
            <a:ext cx="465429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300" b="1">
                <a:solidFill>
                  <a:srgbClr val="00DCFF"/>
                </a:solidFill>
                <a:latin typeface="Aptos"/>
              </a:defRPr>
            </a:pPr>
            <a:r>
              <a:t>Long-Term Memory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1901952"/>
            <a:ext cx="4389120" cy="1920240"/>
          </a:xfrm>
          <a:prstGeom prst="rect">
            <a:avLst/>
          </a:prstGeom>
          <a:noFill/>
        </p:spPr>
        <p:txBody>
          <a:bodyPr wrap="square" lIns="45720" rIns="45720" tIns="18288">
            <a:norm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5FAFF"/>
                </a:solidFill>
                <a:latin typeface="Aptos"/>
              </a:defRPr>
            </a:pPr>
            <a:r>
              <a:t>- Stored in MongoDB</a:t>
            </a:r>
          </a:p>
          <a:p>
            <a:pPr>
              <a:spcAft>
                <a:spcPts val="700"/>
              </a:spcAft>
              <a:defRPr sz="1500">
                <a:solidFill>
                  <a:srgbClr val="F5FAFF"/>
                </a:solidFill>
                <a:latin typeface="Aptos"/>
              </a:defRPr>
            </a:pPr>
            <a:r>
              <a:t>- Past user and assistant messages get embeddings</a:t>
            </a:r>
          </a:p>
          <a:p>
            <a:pPr>
              <a:spcAft>
                <a:spcPts val="700"/>
              </a:spcAft>
              <a:defRPr sz="1500">
                <a:solidFill>
                  <a:srgbClr val="F5FAFF"/>
                </a:solidFill>
                <a:latin typeface="Aptos"/>
              </a:defRPr>
            </a:pPr>
            <a:r>
              <a:t>- Relevant old memories are retrieved by cosine similarity</a:t>
            </a:r>
          </a:p>
          <a:p>
            <a:pPr>
              <a:spcAft>
                <a:spcPts val="700"/>
              </a:spcAft>
              <a:defRPr sz="1500">
                <a:solidFill>
                  <a:srgbClr val="F5FAFF"/>
                </a:solidFill>
                <a:latin typeface="Aptos"/>
              </a:defRPr>
            </a:pPr>
            <a:r>
              <a:t>- Added to prompt as supporting conversation context</a:t>
            </a:r>
          </a:p>
        </p:txBody>
      </p:sp>
      <p:sp>
        <p:nvSpPr>
          <p:cNvPr id="31" name="Can 30"/>
          <p:cNvSpPr/>
          <p:nvPr/>
        </p:nvSpPr>
        <p:spPr>
          <a:xfrm>
            <a:off x="8065008" y="4224528"/>
            <a:ext cx="1554480" cy="868680"/>
          </a:xfrm>
          <a:prstGeom prst="can">
            <a:avLst/>
          </a:prstGeom>
          <a:solidFill>
            <a:srgbClr val="123159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56448" y="4549140"/>
            <a:ext cx="1371600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1100" b="1">
                <a:solidFill>
                  <a:srgbClr val="2DD4BF"/>
                </a:solidFill>
                <a:latin typeface="Aptos"/>
              </a:defRPr>
            </a:pPr>
            <a:r>
              <a:t>memory</a:t>
            </a:r>
          </a:p>
        </p:txBody>
      </p:sp>
    </p:spTree>
  </p:cSld>
  <p:transition spd="med">
    <p:fade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-822960"/>
            <a:ext cx="3840480" cy="3840480"/>
          </a:xfrm>
          <a:prstGeom prst="ellipse">
            <a:avLst/>
          </a:prstGeom>
          <a:solidFill>
            <a:srgbClr val="123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9326880" y="640080"/>
            <a:ext cx="731520" cy="411480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0058400" y="749808"/>
            <a:ext cx="9601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0744200" y="749808"/>
            <a:ext cx="274320" cy="877824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744200" y="1325880"/>
            <a:ext cx="7315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290304" y="60350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21824" y="101498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81944" y="713231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07624" y="1591056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9144" y="1289304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6464808"/>
            <a:ext cx="10972800" cy="27432"/>
          </a:xfrm>
          <a:prstGeom prst="rect">
            <a:avLst/>
          </a:prstGeom>
          <a:solidFill>
            <a:srgbClr val="1D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528816"/>
            <a:ext cx="6309360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800" b="0">
                <a:solidFill>
                  <a:srgbClr val="B0C5DC"/>
                </a:solidFill>
                <a:latin typeface="Aptos"/>
              </a:defRPr>
            </a:pPr>
            <a:r>
              <a:t>PubMed RAG Chatbot | MongoDB + Sentence-Transformers + Gradio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37392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r">
              <a:defRPr sz="900" b="1">
                <a:solidFill>
                  <a:srgbClr val="00DCF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29184"/>
            <a:ext cx="777240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2800" b="1">
                <a:solidFill>
                  <a:srgbClr val="F5FAFF"/>
                </a:solidFill>
                <a:latin typeface="Aptos Display"/>
              </a:defRPr>
            </a:pPr>
            <a:r>
              <a:t>Gradio 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859536"/>
            <a:ext cx="7589520" cy="3017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100" b="0">
                <a:solidFill>
                  <a:srgbClr val="00DCFF"/>
                </a:solidFill>
                <a:latin typeface="Aptos"/>
              </a:defRPr>
            </a:pPr>
            <a:r>
              <a:t>User-facing chatbot interface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1325880"/>
            <a:ext cx="6537960" cy="452628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1435607"/>
            <a:ext cx="620877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300" b="1">
                <a:solidFill>
                  <a:srgbClr val="00DCFF"/>
                </a:solidFill>
                <a:latin typeface="Aptos"/>
              </a:defRPr>
            </a:pPr>
            <a:r>
              <a:t>Gradio UI Screenshot</a:t>
            </a:r>
          </a:p>
        </p:txBody>
      </p:sp>
      <p:pic>
        <p:nvPicPr>
          <p:cNvPr id="21" name="Picture 20" descr="gradio_ui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1735645"/>
            <a:ext cx="6281928" cy="3926205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7726679" y="1325880"/>
            <a:ext cx="3611880" cy="452628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91271" y="1435607"/>
            <a:ext cx="328269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300" b="1">
                <a:solidFill>
                  <a:srgbClr val="00DCFF"/>
                </a:solidFill>
                <a:latin typeface="Aptos"/>
              </a:defRPr>
            </a:pPr>
            <a:r>
              <a:t>UI 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1874519"/>
            <a:ext cx="3017520" cy="2697480"/>
          </a:xfrm>
          <a:prstGeom prst="rect">
            <a:avLst/>
          </a:prstGeom>
          <a:noFill/>
        </p:spPr>
        <p:txBody>
          <a:bodyPr wrap="square" lIns="45720" rIns="45720" tIns="18288">
            <a:norm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F5FAFF"/>
                </a:solidFill>
                <a:latin typeface="Aptos"/>
              </a:defRPr>
            </a:pPr>
            <a:r>
              <a:t>- Chat interface</a:t>
            </a:r>
          </a:p>
          <a:p>
            <a:pPr>
              <a:spcAft>
                <a:spcPts val="700"/>
              </a:spcAft>
              <a:defRPr sz="1400">
                <a:solidFill>
                  <a:srgbClr val="F5FAFF"/>
                </a:solidFill>
                <a:latin typeface="Aptos"/>
              </a:defRPr>
            </a:pPr>
            <a:r>
              <a:t>- Streaming response</a:t>
            </a:r>
          </a:p>
          <a:p>
            <a:pPr>
              <a:spcAft>
                <a:spcPts val="700"/>
              </a:spcAft>
              <a:defRPr sz="1400">
                <a:solidFill>
                  <a:srgbClr val="F5FAFF"/>
                </a:solidFill>
                <a:latin typeface="Aptos"/>
              </a:defRPr>
            </a:pPr>
            <a:r>
              <a:t>- Session management</a:t>
            </a:r>
          </a:p>
          <a:p>
            <a:pPr>
              <a:spcAft>
                <a:spcPts val="700"/>
              </a:spcAft>
              <a:defRPr sz="1400">
                <a:solidFill>
                  <a:srgbClr val="F5FAFF"/>
                </a:solidFill>
                <a:latin typeface="Aptos"/>
              </a:defRPr>
            </a:pPr>
            <a:r>
              <a:t>- Prompt history panel</a:t>
            </a:r>
          </a:p>
          <a:p>
            <a:pPr>
              <a:spcAft>
                <a:spcPts val="700"/>
              </a:spcAft>
              <a:defRPr sz="1400">
                <a:solidFill>
                  <a:srgbClr val="F5FAFF"/>
                </a:solidFill>
                <a:latin typeface="Aptos"/>
              </a:defRPr>
            </a:pPr>
            <a:r>
              <a:t>- Clear and new-session controls</a:t>
            </a:r>
          </a:p>
          <a:p>
            <a:pPr>
              <a:spcAft>
                <a:spcPts val="700"/>
              </a:spcAft>
              <a:defRPr sz="1400">
                <a:solidFill>
                  <a:srgbClr val="F5FAFF"/>
                </a:solidFill>
                <a:latin typeface="Aptos"/>
              </a:defRPr>
            </a:pPr>
            <a:r>
              <a:t>- Retrieved source/chunk display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1" y="5138928"/>
            <a:ext cx="1417320" cy="310896"/>
          </a:xfrm>
          <a:prstGeom prst="roundRect">
            <a:avLst/>
          </a:prstGeom>
          <a:solidFill>
            <a:srgbClr val="0F2342"/>
          </a:solidFill>
          <a:ln w="1397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83296" y="5202936"/>
            <a:ext cx="1307592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800" b="1">
                <a:solidFill>
                  <a:srgbClr val="F5FAFF"/>
                </a:solidFill>
                <a:latin typeface="Aptos"/>
              </a:defRPr>
            </a:pPr>
            <a:r>
              <a:t>Logic stays in src/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6920" y="5138928"/>
            <a:ext cx="1188720" cy="310896"/>
          </a:xfrm>
          <a:prstGeom prst="roundRect">
            <a:avLst/>
          </a:prstGeom>
          <a:solidFill>
            <a:srgbClr val="0F2342"/>
          </a:solidFill>
          <a:ln w="1397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01784" y="5202936"/>
            <a:ext cx="1078992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800" b="1">
                <a:solidFill>
                  <a:srgbClr val="F5FAFF"/>
                </a:solidFill>
                <a:latin typeface="Aptos"/>
              </a:defRPr>
            </a:pPr>
            <a:r>
              <a:t>UI stays in ui/</a:t>
            </a:r>
          </a:p>
        </p:txBody>
      </p:sp>
    </p:spTree>
  </p:cSld>
  <p:transition spd="med">
    <p:fade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-822960"/>
            <a:ext cx="3840480" cy="3840480"/>
          </a:xfrm>
          <a:prstGeom prst="ellipse">
            <a:avLst/>
          </a:prstGeom>
          <a:solidFill>
            <a:srgbClr val="123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9326880" y="640080"/>
            <a:ext cx="731520" cy="411480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0058400" y="749808"/>
            <a:ext cx="9601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0744200" y="749808"/>
            <a:ext cx="274320" cy="877824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744200" y="1325880"/>
            <a:ext cx="7315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290304" y="60350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21824" y="101498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81944" y="713231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07624" y="1591056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9144" y="1289304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6464808"/>
            <a:ext cx="10972800" cy="27432"/>
          </a:xfrm>
          <a:prstGeom prst="rect">
            <a:avLst/>
          </a:prstGeom>
          <a:solidFill>
            <a:srgbClr val="1D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528816"/>
            <a:ext cx="6309360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800" b="0">
                <a:solidFill>
                  <a:srgbClr val="B0C5DC"/>
                </a:solidFill>
                <a:latin typeface="Aptos"/>
              </a:defRPr>
            </a:pPr>
            <a:r>
              <a:t>PubMed RAG Chatbot | MongoDB + Sentence-Transformers + Gradio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37392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r">
              <a:defRPr sz="900" b="1">
                <a:solidFill>
                  <a:srgbClr val="00DCFF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29184"/>
            <a:ext cx="777240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2800" b="1">
                <a:solidFill>
                  <a:srgbClr val="F5FAFF"/>
                </a:solidFill>
                <a:latin typeface="Aptos Display"/>
              </a:defRPr>
            </a:pPr>
            <a:r>
              <a:t>Demo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859536"/>
            <a:ext cx="7589520" cy="3017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100" b="0">
                <a:solidFill>
                  <a:srgbClr val="00DCFF"/>
                </a:solidFill>
                <a:latin typeface="Aptos"/>
              </a:defRPr>
            </a:pPr>
            <a:r>
              <a:t>Question -&gt; Retrieval -&gt; Answer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1234440"/>
            <a:ext cx="6720840" cy="3749039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1344168"/>
            <a:ext cx="6391655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300" b="1">
                <a:solidFill>
                  <a:srgbClr val="00DCFF"/>
                </a:solidFill>
                <a:latin typeface="Aptos"/>
              </a:defRPr>
            </a:pPr>
            <a:r>
              <a:t>Real Chatbot Output Screenshot</a:t>
            </a:r>
          </a:p>
        </p:txBody>
      </p:sp>
      <p:pic>
        <p:nvPicPr>
          <p:cNvPr id="21" name="Picture 20" descr="gradio_output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682" y="1673352"/>
            <a:ext cx="4945075" cy="3090672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7726679" y="1234440"/>
            <a:ext cx="3520440" cy="164592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91271" y="1344168"/>
            <a:ext cx="319125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300" b="1">
                <a:solidFill>
                  <a:srgbClr val="00DCFF"/>
                </a:solidFill>
                <a:latin typeface="Aptos"/>
              </a:defRPr>
            </a:pPr>
            <a:r>
              <a:t>Ingestion Output</a:t>
            </a:r>
          </a:p>
        </p:txBody>
      </p:sp>
      <p:pic>
        <p:nvPicPr>
          <p:cNvPr id="24" name="Picture 23" descr="terminal_ingestion_out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426" y="1673352"/>
            <a:ext cx="1692946" cy="987552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7726679" y="3090672"/>
            <a:ext cx="3520440" cy="1892807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91271" y="3200400"/>
            <a:ext cx="319125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300" b="1">
                <a:solidFill>
                  <a:srgbClr val="00DCFF"/>
                </a:solidFill>
                <a:latin typeface="Aptos"/>
              </a:defRPr>
            </a:pPr>
            <a:r>
              <a:t>MongoDB Storage</a:t>
            </a:r>
          </a:p>
        </p:txBody>
      </p:sp>
      <p:pic>
        <p:nvPicPr>
          <p:cNvPr id="27" name="Picture 26" descr="mongodb_collections_visu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8808" y="3529584"/>
            <a:ext cx="2116182" cy="1234439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868680" y="5230368"/>
            <a:ext cx="10561320" cy="658368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1" y="5340096"/>
            <a:ext cx="1023213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300" b="1">
                <a:solidFill>
                  <a:srgbClr val="00DCFF"/>
                </a:solidFill>
                <a:latin typeface="Aptos"/>
              </a:defRPr>
            </a:pPr>
            <a:r>
              <a:t>Demo Script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" y="5440680"/>
            <a:ext cx="4389120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100" b="1">
                <a:solidFill>
                  <a:srgbClr val="F5FAFF"/>
                </a:solidFill>
                <a:latin typeface="Aptos"/>
              </a:defRPr>
            </a:pPr>
            <a:r>
              <a:t>Question: "What does the dataset say about obesity?"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5440680"/>
            <a:ext cx="5440680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100" b="0">
                <a:solidFill>
                  <a:srgbClr val="00DCFF"/>
                </a:solidFill>
                <a:latin typeface="Aptos"/>
              </a:defRPr>
            </a:pPr>
            <a:r>
              <a:t>Embedding -&gt; cosine retrieval -&gt; top source chunks -&gt; grounded streamed answer</a:t>
            </a:r>
          </a:p>
        </p:txBody>
      </p:sp>
    </p:spTree>
  </p:cSld>
  <p:transition spd="med">
    <p:fade/>
  </p:transition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-822960"/>
            <a:ext cx="3840480" cy="3840480"/>
          </a:xfrm>
          <a:prstGeom prst="ellipse">
            <a:avLst/>
          </a:prstGeom>
          <a:solidFill>
            <a:srgbClr val="123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9326880" y="640080"/>
            <a:ext cx="731520" cy="411480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0058400" y="749808"/>
            <a:ext cx="9601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0744200" y="749808"/>
            <a:ext cx="274320" cy="877824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744200" y="1325880"/>
            <a:ext cx="7315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290304" y="60350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21824" y="101498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81944" y="713231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07624" y="1591056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9144" y="1289304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6464808"/>
            <a:ext cx="10972800" cy="27432"/>
          </a:xfrm>
          <a:prstGeom prst="rect">
            <a:avLst/>
          </a:prstGeom>
          <a:solidFill>
            <a:srgbClr val="1D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528816"/>
            <a:ext cx="6309360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800" b="0">
                <a:solidFill>
                  <a:srgbClr val="B0C5DC"/>
                </a:solidFill>
                <a:latin typeface="Aptos"/>
              </a:defRPr>
            </a:pPr>
            <a:r>
              <a:t>PubMed RAG Chatbot | MongoDB + Sentence-Transformers + Gradio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37392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r">
              <a:defRPr sz="900" b="1">
                <a:solidFill>
                  <a:srgbClr val="00DCFF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29184"/>
            <a:ext cx="777240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2800" b="1">
                <a:solidFill>
                  <a:srgbClr val="F5FAFF"/>
                </a:solidFill>
                <a:latin typeface="Aptos Display"/>
              </a:defRPr>
            </a:pPr>
            <a:r>
              <a:t>Advantages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859536"/>
            <a:ext cx="7589520" cy="3017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100" b="0">
                <a:solidFill>
                  <a:srgbClr val="00DCFF"/>
                </a:solidFill>
                <a:latin typeface="Aptos"/>
              </a:defRPr>
            </a:pPr>
            <a:r>
              <a:t>Why this design is useful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1508760"/>
            <a:ext cx="4983480" cy="141732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1832" y="1673351"/>
            <a:ext cx="438912" cy="43891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1773936"/>
            <a:ext cx="438912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800" b="1">
                <a:solidFill>
                  <a:srgbClr val="070F22"/>
                </a:solidFill>
                <a:latin typeface="Aptos"/>
              </a:defRPr>
            </a:pPr>
            <a:r>
              <a:t>SAFE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0472" y="1655063"/>
            <a:ext cx="411480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Aptos"/>
              </a:defRPr>
            </a:pPr>
            <a:r>
              <a:t>Reduced Hallucination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0472" y="1965960"/>
            <a:ext cx="4114800" cy="8869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000" b="0">
                <a:solidFill>
                  <a:srgbClr val="B0C5DC"/>
                </a:solidFill>
                <a:latin typeface="Aptos"/>
              </a:defRPr>
            </a:pPr>
            <a:r>
              <a:t>Answers are tied to retrieved PubMed context.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1508760"/>
            <a:ext cx="4983480" cy="141732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28231" y="1673351"/>
            <a:ext cx="438912" cy="43891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8231" y="1773936"/>
            <a:ext cx="438912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800" b="1">
                <a:solidFill>
                  <a:srgbClr val="070F22"/>
                </a:solidFill>
                <a:latin typeface="Aptos"/>
              </a:defRPr>
            </a:pPr>
            <a:r>
              <a:t>SRC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1655063"/>
            <a:ext cx="411480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Aptos"/>
              </a:defRPr>
            </a:pPr>
            <a:r>
              <a:t>Source Visibility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76872" y="1965960"/>
            <a:ext cx="4114800" cy="8869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000" b="0">
                <a:solidFill>
                  <a:srgbClr val="B0C5DC"/>
                </a:solidFill>
                <a:latin typeface="Aptos"/>
              </a:defRPr>
            </a:pPr>
            <a:r>
              <a:t>Users can inspect the chunks used for the answer.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3657600"/>
            <a:ext cx="4983480" cy="141732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1832" y="3822191"/>
            <a:ext cx="438912" cy="43891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" y="3922776"/>
            <a:ext cx="438912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800" b="1">
                <a:solidFill>
                  <a:srgbClr val="070F22"/>
                </a:solidFill>
                <a:latin typeface="Aptos"/>
              </a:defRPr>
            </a:pPr>
            <a:r>
              <a:t>MEM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0472" y="3803904"/>
            <a:ext cx="411480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Aptos"/>
              </a:defRPr>
            </a:pPr>
            <a:r>
              <a:t>Context-Aware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0472" y="4114800"/>
            <a:ext cx="4114800" cy="8869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000" b="0">
                <a:solidFill>
                  <a:srgbClr val="B0C5DC"/>
                </a:solidFill>
                <a:latin typeface="Aptos"/>
              </a:defRPr>
            </a:pPr>
            <a:r>
              <a:t>Recent and older memory improve follow-up handling.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3657600"/>
            <a:ext cx="4983480" cy="141732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28231" y="3822191"/>
            <a:ext cx="438912" cy="43891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28231" y="3922776"/>
            <a:ext cx="438912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800" b="1">
                <a:solidFill>
                  <a:srgbClr val="070F22"/>
                </a:solidFill>
                <a:latin typeface="Aptos"/>
              </a:defRPr>
            </a:pPr>
            <a:r>
              <a:t>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76872" y="3803904"/>
            <a:ext cx="411480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Aptos"/>
              </a:defRPr>
            </a:pPr>
            <a:r>
              <a:t>Beginner-Friendly Stack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76872" y="4114800"/>
            <a:ext cx="4114800" cy="8869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000" b="0">
                <a:solidFill>
                  <a:srgbClr val="B0C5DC"/>
                </a:solidFill>
                <a:latin typeface="Aptos"/>
              </a:defRPr>
            </a:pPr>
            <a:r>
              <a:t>Python, MongoDB, sentence-transformers, Gradio.</a:t>
            </a:r>
          </a:p>
        </p:txBody>
      </p:sp>
    </p:spTree>
  </p:cSld>
  <p:transition spd="med">
    <p:fade/>
  </p:transition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-822960"/>
            <a:ext cx="3840480" cy="3840480"/>
          </a:xfrm>
          <a:prstGeom prst="ellipse">
            <a:avLst/>
          </a:prstGeom>
          <a:solidFill>
            <a:srgbClr val="123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9326880" y="640080"/>
            <a:ext cx="731520" cy="411480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0058400" y="749808"/>
            <a:ext cx="9601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0744200" y="749808"/>
            <a:ext cx="274320" cy="877824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744200" y="1325880"/>
            <a:ext cx="7315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290304" y="60350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21824" y="101498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81944" y="713231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07624" y="1591056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9144" y="1289304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6464808"/>
            <a:ext cx="10972800" cy="27432"/>
          </a:xfrm>
          <a:prstGeom prst="rect">
            <a:avLst/>
          </a:prstGeom>
          <a:solidFill>
            <a:srgbClr val="1D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528816"/>
            <a:ext cx="6309360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800" b="0">
                <a:solidFill>
                  <a:srgbClr val="B0C5DC"/>
                </a:solidFill>
                <a:latin typeface="Aptos"/>
              </a:defRPr>
            </a:pPr>
            <a:r>
              <a:t>PubMed RAG Chatbot | MongoDB + Sentence-Transformers + Gradio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37392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r">
              <a:defRPr sz="900" b="1">
                <a:solidFill>
                  <a:srgbClr val="00DCFF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29184"/>
            <a:ext cx="777240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2800" b="1">
                <a:solidFill>
                  <a:srgbClr val="F5FAFF"/>
                </a:solidFill>
                <a:latin typeface="Aptos Display"/>
              </a:defRPr>
            </a:pPr>
            <a:r>
              <a:t>Future Improvements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859536"/>
            <a:ext cx="7589520" cy="3017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100" b="0">
                <a:solidFill>
                  <a:srgbClr val="00DCFF"/>
                </a:solidFill>
                <a:latin typeface="Aptos"/>
              </a:defRPr>
            </a:pPr>
            <a:r>
              <a:t>Next engineering steps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1417320"/>
            <a:ext cx="9966960" cy="749808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0432" y="1618488"/>
            <a:ext cx="411480" cy="1828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1500" b="1">
                <a:solidFill>
                  <a:srgbClr val="00DC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1545336"/>
            <a:ext cx="3017520" cy="219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Aptos"/>
              </a:defRPr>
            </a:pPr>
            <a:r>
              <a:t>Gemma or Llama LLM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1563624"/>
            <a:ext cx="580644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100" b="0">
                <a:solidFill>
                  <a:srgbClr val="B0C5DC"/>
                </a:solidFill>
                <a:latin typeface="Aptos"/>
              </a:defRPr>
            </a:pPr>
            <a:r>
              <a:t>Add a local or API-based language model for stronger natural answers.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" y="2496312"/>
            <a:ext cx="9966960" cy="749808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0432" y="2697480"/>
            <a:ext cx="411480" cy="1828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1500" b="1">
                <a:solidFill>
                  <a:srgbClr val="00DC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2624328"/>
            <a:ext cx="3017520" cy="219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Aptos"/>
              </a:defRPr>
            </a:pPr>
            <a:r>
              <a:t>Better Vector 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2642616"/>
            <a:ext cx="580644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100" b="0">
                <a:solidFill>
                  <a:srgbClr val="B0C5DC"/>
                </a:solidFill>
                <a:latin typeface="Aptos"/>
              </a:defRPr>
            </a:pPr>
            <a:r>
              <a:t>Use MongoDB Atlas Vector Search, FAISS, or Qdrant for scalable retrieval.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" y="3575304"/>
            <a:ext cx="9966960" cy="749808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70432" y="3776472"/>
            <a:ext cx="411480" cy="1828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1500" b="1">
                <a:solidFill>
                  <a:srgbClr val="00DC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83080" y="3703320"/>
            <a:ext cx="3017520" cy="219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Aptos"/>
              </a:defRPr>
            </a:pPr>
            <a:r>
              <a:t>Voice Assistant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3721608"/>
            <a:ext cx="580644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100" b="0">
                <a:solidFill>
                  <a:srgbClr val="B0C5DC"/>
                </a:solidFill>
                <a:latin typeface="Aptos"/>
              </a:defRPr>
            </a:pPr>
            <a:r>
              <a:t>Speech-to-text input and text-to-speech output for hands-free use.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0120" y="4654296"/>
            <a:ext cx="9966960" cy="749808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70432" y="4855464"/>
            <a:ext cx="411480" cy="1828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1500" b="1">
                <a:solidFill>
                  <a:srgbClr val="00DC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83080" y="4782312"/>
            <a:ext cx="3017520" cy="219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Aptos"/>
              </a:defRPr>
            </a:pPr>
            <a:r>
              <a:t>Medical Recommendation 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4800600"/>
            <a:ext cx="580644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100" b="0">
                <a:solidFill>
                  <a:srgbClr val="B0C5DC"/>
                </a:solidFill>
                <a:latin typeface="Aptos"/>
              </a:defRPr>
            </a:pPr>
            <a:r>
              <a:t>Only after stronger validation, evaluation, and clinical safety checks.</a:t>
            </a:r>
          </a:p>
        </p:txBody>
      </p:sp>
    </p:spTree>
  </p:cSld>
  <p:transition spd="med">
    <p:fade/>
  </p:transition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-822960"/>
            <a:ext cx="3840480" cy="3840480"/>
          </a:xfrm>
          <a:prstGeom prst="ellipse">
            <a:avLst/>
          </a:prstGeom>
          <a:solidFill>
            <a:srgbClr val="123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9326880" y="640080"/>
            <a:ext cx="731520" cy="411480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0058400" y="749808"/>
            <a:ext cx="9601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0744200" y="749808"/>
            <a:ext cx="274320" cy="877824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744200" y="1325880"/>
            <a:ext cx="7315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290304" y="60350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21824" y="101498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81944" y="713231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07624" y="1591056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9144" y="1289304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6464808"/>
            <a:ext cx="10972800" cy="27432"/>
          </a:xfrm>
          <a:prstGeom prst="rect">
            <a:avLst/>
          </a:prstGeom>
          <a:solidFill>
            <a:srgbClr val="1D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528816"/>
            <a:ext cx="6309360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800" b="0">
                <a:solidFill>
                  <a:srgbClr val="B0C5DC"/>
                </a:solidFill>
                <a:latin typeface="Aptos"/>
              </a:defRPr>
            </a:pPr>
            <a:r>
              <a:t>PubMed RAG Chatbot | MongoDB + Sentence-Transformers + Gradio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37392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r">
              <a:defRPr sz="900" b="1">
                <a:solidFill>
                  <a:srgbClr val="00DCFF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29184"/>
            <a:ext cx="777240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2800" b="1">
                <a:solidFill>
                  <a:srgbClr val="F5FAFF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859536"/>
            <a:ext cx="7589520" cy="3017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100" b="0">
                <a:solidFill>
                  <a:srgbClr val="00DCFF"/>
                </a:solidFill>
                <a:latin typeface="Aptos"/>
              </a:defRPr>
            </a:pPr>
            <a:r>
              <a:t>What the project demonstrates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1417320"/>
            <a:ext cx="10195560" cy="438912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4712" y="1527048"/>
            <a:ext cx="986637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300" b="1">
                <a:solidFill>
                  <a:srgbClr val="00DCFF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1993392"/>
            <a:ext cx="9281160" cy="2606040"/>
          </a:xfrm>
          <a:prstGeom prst="rect">
            <a:avLst/>
          </a:prstGeom>
          <a:noFill/>
        </p:spPr>
        <p:txBody>
          <a:bodyPr wrap="square" lIns="45720" rIns="45720" tIns="18288">
            <a:norm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F5FAFF"/>
                </a:solidFill>
                <a:latin typeface="Aptos"/>
              </a:defRPr>
            </a:pPr>
            <a:r>
              <a:t>- Built an end-to-end RAG chatbot over PubMed medical abstracts</a:t>
            </a:r>
          </a:p>
          <a:p>
            <a:pPr>
              <a:spcAft>
                <a:spcPts val="700"/>
              </a:spcAft>
              <a:defRPr sz="1700">
                <a:solidFill>
                  <a:srgbClr val="F5FAFF"/>
                </a:solidFill>
                <a:latin typeface="Aptos"/>
              </a:defRPr>
            </a:pPr>
            <a:r>
              <a:t>- Ingested CSV data into chunks with embeddings and metadata</a:t>
            </a:r>
          </a:p>
          <a:p>
            <a:pPr>
              <a:spcAft>
                <a:spcPts val="700"/>
              </a:spcAft>
              <a:defRPr sz="1700">
                <a:solidFill>
                  <a:srgbClr val="F5FAFF"/>
                </a:solidFill>
                <a:latin typeface="Aptos"/>
              </a:defRPr>
            </a:pPr>
            <a:r>
              <a:t>- Used MongoDB for chunk storage, duplicate prevention, and memory</a:t>
            </a:r>
          </a:p>
          <a:p>
            <a:pPr>
              <a:spcAft>
                <a:spcPts val="700"/>
              </a:spcAft>
              <a:defRPr sz="1700">
                <a:solidFill>
                  <a:srgbClr val="F5FAFF"/>
                </a:solidFill>
                <a:latin typeface="Aptos"/>
              </a:defRPr>
            </a:pPr>
            <a:r>
              <a:t>- Retrieved top medical context with cosine similarity</a:t>
            </a:r>
          </a:p>
          <a:p>
            <a:pPr>
              <a:spcAft>
                <a:spcPts val="700"/>
              </a:spcAft>
              <a:defRPr sz="1700">
                <a:solidFill>
                  <a:srgbClr val="F5FAFF"/>
                </a:solidFill>
                <a:latin typeface="Aptos"/>
              </a:defRPr>
            </a:pPr>
            <a:r>
              <a:t>- Displayed grounded answers and sources through a Gradio interface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166360"/>
            <a:ext cx="877824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1600" b="1">
                <a:solidFill>
                  <a:srgbClr val="00DCFF"/>
                </a:solidFill>
                <a:latin typeface="Aptos"/>
              </a:defRPr>
            </a:pPr>
            <a:r>
              <a:t>RAG + MongoDB + Embeddings + Memory = explainable medical QA prototype</a:t>
            </a:r>
          </a:p>
        </p:txBody>
      </p:sp>
    </p:spTree>
  </p:cSld>
  <p:transition spd="med">
    <p:fade/>
  </p:transition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-822960"/>
            <a:ext cx="3840480" cy="3840480"/>
          </a:xfrm>
          <a:prstGeom prst="ellipse">
            <a:avLst/>
          </a:prstGeom>
          <a:solidFill>
            <a:srgbClr val="123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9326880" y="640080"/>
            <a:ext cx="731520" cy="411480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0058400" y="749808"/>
            <a:ext cx="9601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0744200" y="749808"/>
            <a:ext cx="274320" cy="877824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744200" y="1325880"/>
            <a:ext cx="7315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290304" y="60350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21824" y="101498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81944" y="713231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07624" y="1591056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9144" y="1289304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6464808"/>
            <a:ext cx="10972800" cy="27432"/>
          </a:xfrm>
          <a:prstGeom prst="rect">
            <a:avLst/>
          </a:prstGeom>
          <a:solidFill>
            <a:srgbClr val="1D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528816"/>
            <a:ext cx="6309360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800" b="0">
                <a:solidFill>
                  <a:srgbClr val="B0C5DC"/>
                </a:solidFill>
                <a:latin typeface="Aptos"/>
              </a:defRPr>
            </a:pPr>
            <a:r>
              <a:t>PubMed RAG Chatbot | MongoDB + Sentence-Transformers + Gradio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37392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r">
              <a:defRPr sz="900" b="1">
                <a:solidFill>
                  <a:srgbClr val="00DCFF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29184"/>
            <a:ext cx="777240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2800" b="1">
                <a:solidFill>
                  <a:srgbClr val="F5FAFF"/>
                </a:solidFill>
                <a:latin typeface="Aptos Display"/>
              </a:defRPr>
            </a:pPr>
            <a:r>
              <a:t>GitHub Repository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859536"/>
            <a:ext cx="7589520" cy="3017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100" b="0">
                <a:solidFill>
                  <a:srgbClr val="00DCFF"/>
                </a:solidFill>
                <a:latin typeface="Aptos"/>
              </a:defRPr>
            </a:pPr>
            <a:r>
              <a:t>Project code, README, and setup instructions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1554480"/>
            <a:ext cx="10012680" cy="306324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0432" y="1664207"/>
            <a:ext cx="968349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1300" b="1">
                <a:solidFill>
                  <a:srgbClr val="00DCFF"/>
                </a:solidFill>
                <a:latin typeface="Aptos"/>
              </a:defRPr>
            </a:pPr>
            <a:r>
              <a:t>Repository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2331720"/>
            <a:ext cx="909828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2200" b="1">
                <a:solidFill>
                  <a:srgbClr val="00DCFF"/>
                </a:solidFill>
                <a:latin typeface="Consolas"/>
              </a:defRPr>
            </a:pPr>
            <a:r>
              <a:t>https://github.com/anaconda0/rag_pubmed_chatbot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035808"/>
            <a:ext cx="82296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1400" b="0">
                <a:solidFill>
                  <a:srgbClr val="F5FAFF"/>
                </a:solidFill>
                <a:latin typeface="Aptos"/>
              </a:defRPr>
            </a:pPr>
            <a:r>
              <a:t>Includes ingestion, retrieval, memory, RAG prompt building, Gradio UI, and test questions.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71800" y="3822191"/>
            <a:ext cx="658368" cy="310896"/>
          </a:xfrm>
          <a:prstGeom prst="roundRect">
            <a:avLst/>
          </a:prstGeom>
          <a:solidFill>
            <a:srgbClr val="0F2342"/>
          </a:solidFill>
          <a:ln w="1397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26664" y="3886200"/>
            <a:ext cx="548640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800" b="1">
                <a:solidFill>
                  <a:srgbClr val="F5FAFF"/>
                </a:solidFill>
                <a:latin typeface="Aptos"/>
              </a:defRPr>
            </a:pPr>
            <a:r>
              <a:t>src/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9039" y="3822191"/>
            <a:ext cx="640080" cy="310896"/>
          </a:xfrm>
          <a:prstGeom prst="roundRect">
            <a:avLst/>
          </a:prstGeom>
          <a:solidFill>
            <a:srgbClr val="0F2342"/>
          </a:solidFill>
          <a:ln w="1397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03903" y="3886200"/>
            <a:ext cx="530352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800" b="1">
                <a:solidFill>
                  <a:srgbClr val="F5FAFF"/>
                </a:solidFill>
                <a:latin typeface="Aptos"/>
              </a:defRPr>
            </a:pPr>
            <a:r>
              <a:t>ui/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26280" y="3822191"/>
            <a:ext cx="749808" cy="310896"/>
          </a:xfrm>
          <a:prstGeom prst="roundRect">
            <a:avLst/>
          </a:prstGeom>
          <a:solidFill>
            <a:srgbClr val="0F2342"/>
          </a:solidFill>
          <a:ln w="1397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81144" y="3886200"/>
            <a:ext cx="640080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800" b="1">
                <a:solidFill>
                  <a:srgbClr val="F5FAFF"/>
                </a:solidFill>
                <a:latin typeface="Aptos"/>
              </a:defRPr>
            </a:pPr>
            <a:r>
              <a:t>app.py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40680" y="3822191"/>
            <a:ext cx="1051560" cy="310896"/>
          </a:xfrm>
          <a:prstGeom prst="roundRect">
            <a:avLst/>
          </a:prstGeom>
          <a:solidFill>
            <a:srgbClr val="0F2342"/>
          </a:solidFill>
          <a:ln w="1397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95544" y="3886200"/>
            <a:ext cx="941831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800" b="1">
                <a:solidFill>
                  <a:srgbClr val="F5FAFF"/>
                </a:solidFill>
                <a:latin typeface="Aptos"/>
              </a:defRPr>
            </a:pPr>
            <a:r>
              <a:t>README.md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56832" y="3822191"/>
            <a:ext cx="1508760" cy="310896"/>
          </a:xfrm>
          <a:prstGeom prst="roundRect">
            <a:avLst/>
          </a:prstGeom>
          <a:solidFill>
            <a:srgbClr val="0F2342"/>
          </a:solidFill>
          <a:ln w="1397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11696" y="3886200"/>
            <a:ext cx="1399031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800" b="1">
                <a:solidFill>
                  <a:srgbClr val="F5FAFF"/>
                </a:solidFill>
                <a:latin typeface="Aptos"/>
              </a:defRPr>
            </a:pPr>
            <a:r>
              <a:t>test_questions.txt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26080" y="5074920"/>
            <a:ext cx="6309360" cy="50292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46120" y="5239512"/>
            <a:ext cx="5715000" cy="1645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1200" b="1">
                <a:solidFill>
                  <a:srgbClr val="F5FAFF"/>
                </a:solidFill>
                <a:latin typeface="Consolas"/>
              </a:defRPr>
            </a:pPr>
            <a:r>
              <a:t>Run locally: python app.py</a:t>
            </a:r>
          </a:p>
        </p:txBody>
      </p:sp>
    </p:spTree>
  </p:cSld>
  <p:transition spd="med">
    <p:fade/>
  </p:transition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-822960"/>
            <a:ext cx="3840480" cy="3840480"/>
          </a:xfrm>
          <a:prstGeom prst="ellipse">
            <a:avLst/>
          </a:prstGeom>
          <a:solidFill>
            <a:srgbClr val="123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9326880" y="640080"/>
            <a:ext cx="731520" cy="411480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0058400" y="749808"/>
            <a:ext cx="9601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0744200" y="749808"/>
            <a:ext cx="274320" cy="877824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744200" y="1325880"/>
            <a:ext cx="7315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290304" y="60350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21824" y="101498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81944" y="713231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07624" y="1591056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9144" y="1289304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6464808"/>
            <a:ext cx="10972800" cy="27432"/>
          </a:xfrm>
          <a:prstGeom prst="rect">
            <a:avLst/>
          </a:prstGeom>
          <a:solidFill>
            <a:srgbClr val="1D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528816"/>
            <a:ext cx="6309360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l">
              <a:defRPr sz="800" b="0">
                <a:solidFill>
                  <a:srgbClr val="B0C5DC"/>
                </a:solidFill>
                <a:latin typeface="Aptos"/>
              </a:defRPr>
            </a:pPr>
            <a:r>
              <a:t>PubMed RAG Chatbot | MongoDB + Sentence-Transformers + Gradio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37392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r">
              <a:defRPr sz="900" b="1">
                <a:solidFill>
                  <a:srgbClr val="00DCFF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148840"/>
            <a:ext cx="6629400" cy="685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4800" b="1">
                <a:solidFill>
                  <a:srgbClr val="F5FA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3017520"/>
            <a:ext cx="356616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2400" b="1">
                <a:solidFill>
                  <a:srgbClr val="00DCFF"/>
                </a:solidFill>
                <a:latin typeface="Aptos"/>
              </a:defRPr>
            </a:pPr>
            <a:r>
              <a:t>Questions?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794760"/>
            <a:ext cx="461772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1500" b="0">
                <a:solidFill>
                  <a:srgbClr val="B0C5DC"/>
                </a:solidFill>
                <a:latin typeface="Aptos"/>
              </a:defRPr>
            </a:pPr>
            <a:r>
              <a:t>PubMed RAG Chatbot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2928" y="4187952"/>
            <a:ext cx="640080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rmAutofit/>
          </a:bodyPr>
          <a:lstStyle/>
          <a:p>
            <a:pPr algn="ctr">
              <a:defRPr sz="1100" b="0">
                <a:solidFill>
                  <a:srgbClr val="00DCFF"/>
                </a:solidFill>
                <a:latin typeface="Consolas"/>
              </a:defRPr>
            </a:pPr>
            <a:r>
              <a:t>https://github.com/anaconda0/rag_pubmed_chatbot</a:t>
            </a:r>
          </a:p>
        </p:txBody>
      </p:sp>
      <p:sp>
        <p:nvSpPr>
          <p:cNvPr id="21" name="Oval 20"/>
          <p:cNvSpPr/>
          <p:nvPr/>
        </p:nvSpPr>
        <p:spPr>
          <a:xfrm>
            <a:off x="6080760" y="4709160"/>
            <a:ext cx="118872" cy="11887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37960" y="4983480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37960" y="5532120"/>
            <a:ext cx="118872" cy="11887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80760" y="5779008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23560" y="5532120"/>
            <a:ext cx="118872" cy="11887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23560" y="4983480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med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